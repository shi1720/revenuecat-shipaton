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f5747abf75435c" /><Relationship Type="http://schemas.openxmlformats.org/officeDocument/2006/relationships/extended-properties" Target="/docProps/app.xml" Id="R20c7169b10cc45e1" /><Relationship Type="http://schemas.openxmlformats.org/officeDocument/2006/relationships/officeDocument" Target="/ppt/presentation.xml" Id="R4cde1949c8364d8d" /></Relationships>
</file>

<file path=ppt/presentation.xml><?xml version="1.0" encoding="utf-8"?>
<p:presentation xmlns:p="http://schemas.openxmlformats.org/presentationml/2006/main">
  <p:sldMasterIdLst>
    <p:sldMasterId xmlns:r="http://schemas.openxmlformats.org/officeDocument/2006/relationships" id="2147483648" r:id="Rcb43b286447b470b"/>
  </p:sldMasterIdLst>
  <p:notesMasterIdLst>
    <p:notesMasterId xmlns:r="http://schemas.openxmlformats.org/officeDocument/2006/relationships" r:id="Rfba9dab9859a4f30"/>
  </p:notesMasterIdLst>
  <p:sldIdLst>
    <p:sldId xmlns:r="http://schemas.openxmlformats.org/officeDocument/2006/relationships" id="256" r:id="R0a1abcf419684efe"/>
    <p:sldId xmlns:r="http://schemas.openxmlformats.org/officeDocument/2006/relationships" id="257" r:id="R1be21f6c24be4e62"/>
    <p:sldId xmlns:r="http://schemas.openxmlformats.org/officeDocument/2006/relationships" id="258" r:id="R6f3abae092e046f5"/>
    <p:sldId xmlns:r="http://schemas.openxmlformats.org/officeDocument/2006/relationships" id="259" r:id="R1bb587289ba7467a"/>
    <p:sldId xmlns:r="http://schemas.openxmlformats.org/officeDocument/2006/relationships" id="260" r:id="Ra052f133c7724f32"/>
    <p:sldId xmlns:r="http://schemas.openxmlformats.org/officeDocument/2006/relationships" id="261" r:id="R77f97e2c4ba04a56"/>
    <p:sldId xmlns:r="http://schemas.openxmlformats.org/officeDocument/2006/relationships" id="262" r:id="Reb75ceed98364a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8b2eb3e71248e3" /><Relationship Type="http://schemas.openxmlformats.org/officeDocument/2006/relationships/slideMaster" Target="/ppt/slideMasters/slideMaster1.xml" Id="Rcb43b286447b470b" /><Relationship Type="http://schemas.openxmlformats.org/officeDocument/2006/relationships/notesMaster" Target="/ppt/notesMasters/notesMaster1.xml" Id="Rfba9dab9859a4f30" /><Relationship Type="http://schemas.openxmlformats.org/officeDocument/2006/relationships/presProps" Target="/ppt/presProps.xml" Id="R2c69ed49e39f4be9" /><Relationship Type="http://schemas.openxmlformats.org/officeDocument/2006/relationships/tableStyles" Target="/ppt/tableStyles.xml" Id="Rdbe3ea4aaf8243dd" /><Relationship Type="http://schemas.openxmlformats.org/officeDocument/2006/relationships/slide" Target="/ppt/slides/slide1.xml" Id="R0a1abcf419684efe" /><Relationship Type="http://schemas.openxmlformats.org/officeDocument/2006/relationships/slide" Target="/ppt/slides/slide2.xml" Id="R1be21f6c24be4e62" /><Relationship Type="http://schemas.openxmlformats.org/officeDocument/2006/relationships/slide" Target="/ppt/slides/slide3.xml" Id="R6f3abae092e046f5" /><Relationship Type="http://schemas.openxmlformats.org/officeDocument/2006/relationships/slide" Target="/ppt/slides/slide4.xml" Id="R1bb587289ba7467a" /><Relationship Type="http://schemas.openxmlformats.org/officeDocument/2006/relationships/slide" Target="/ppt/slides/slide5.xml" Id="Ra052f133c7724f32" /><Relationship Type="http://schemas.openxmlformats.org/officeDocument/2006/relationships/slide" Target="/ppt/slides/slide6.xml" Id="R77f97e2c4ba04a56" /><Relationship Type="http://schemas.openxmlformats.org/officeDocument/2006/relationships/slide" Target="/ppt/slides/slide7.xml" Id="Reb75ceed98364a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0baad3bed549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e43c6b95e64413" /><Relationship Type="http://schemas.openxmlformats.org/officeDocument/2006/relationships/notesMaster" Target="/ppt/notesMasters/notesMaster1.xml" Id="Rabbac698b5994d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6b032b7088464e" /><Relationship Type="http://schemas.openxmlformats.org/officeDocument/2006/relationships/notesMaster" Target="/ppt/notesMasters/notesMaster1.xml" Id="R597a5550971f49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69f1c2435241f4" /><Relationship Type="http://schemas.openxmlformats.org/officeDocument/2006/relationships/notesMaster" Target="/ppt/notesMasters/notesMaster1.xml" Id="Rf8a6df36c93140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215ebf7c7a40a4" /><Relationship Type="http://schemas.openxmlformats.org/officeDocument/2006/relationships/notesMaster" Target="/ppt/notesMasters/notesMaster1.xml" Id="R0c464283a21445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dcbd74170041e9" /><Relationship Type="http://schemas.openxmlformats.org/officeDocument/2006/relationships/notesMaster" Target="/ppt/notesMasters/notesMaster1.xml" Id="Rea4fa6b137974b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7cacbc480449b7" /><Relationship Type="http://schemas.openxmlformats.org/officeDocument/2006/relationships/notesMaster" Target="/ppt/notesMasters/notesMaster1.xml" Id="R1ffd38f7c9be48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99150e01984935" /><Relationship Type="http://schemas.openxmlformats.org/officeDocument/2006/relationships/notesMaster" Target="/ppt/notesMasters/notesMaster1.xml" Id="R2b9e101c7e7942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Unpause pitch. Creator: Shivam Gupta. Product and pricing hypothesis, September 2026. This deck does not claim a public release, customer traction, or verified paid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ten-minute scenario, not a measured time-saved claim. First-person sewing discussions describe forgetting construction plans and storing projects with next-step notes. Qualitative desk research only. Sources: https://www.reddit.com/r/sewing/comments/1u4dxvf/who_fizzles_out_before_finishing_a_sewing_project/ and https://www.reddit.com/r/SewingForBeginners/comments/1u5yaxe/do_yall_ever_abandon_projects/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concept illustration, not a screenshot. Example reflects seeded Sunday tote project. Actual product includes optional photos. No claim that this exact card is the final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mechanics: suggestProjects filters by next-step duration and energy, excludes finished projects, and ranks blockers after ready work. Checkpoint history stores context and cumulative session minutes. UI implementation and final device behavior require release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features from official websites, checked September 16, 2026: https://www.krafio.app/?lang=en ; https://purlsy.com/ ; https://tapcord.app/for/crafts . Notes/paper description is an ordinary product comparison. This is not an exhaustive competitive map. No customer validation, unique-invention claim, or durable moat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 $19.99 is a proposed lifetime price, not a live configured offering or revenue result. Free allows 3 unfinished projects. Studio removes the paid-plan active-project allowance, subject to technical storage/import limits. 1,000 × 19.99 = 19,990 gross one-time sales, not ARR, profit, or a forecast. Costs include store charges, refunds, taxes, support, and RevenueCat charges where applicable. Restore and entitlement flows need real configured purchase testing. See docs/business.md.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snapshot September 16, 2026. Source/integration claims refer to repository implementation, not public availability or passed store certification. Optional Supabase identity does not synchronize projects. No customer traction claimed. Galaxy publication requires real account approval, physical-device billing test, and public store release. Official event rules: https://revenuecat-shipaton-2026.devpost.com/rules . Release gates documented in docs/release/launch-checklist.md.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32b56176054c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04cd8e71b44168" /><Relationship Type="http://schemas.openxmlformats.org/officeDocument/2006/relationships/slideLayout" Target="/ppt/slideLayouts/slideLayout1.xml" Id="R8d728c577cac43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728c577cac43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b2e72e12da442b" /><Relationship Type="http://schemas.openxmlformats.org/officeDocument/2006/relationships/notesSlide" Target="/ppt/notesSlides/notesSlide1.xml" Id="R4a00a9572f444c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ef5dd960d84fe8" /><Relationship Type="http://schemas.openxmlformats.org/officeDocument/2006/relationships/notesSlide" Target="/ppt/notesSlides/notesSlide2.xml" Id="Rd908f519f78546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dbd41c585446b3" /><Relationship Type="http://schemas.openxmlformats.org/officeDocument/2006/relationships/notesSlide" Target="/ppt/notesSlides/notesSlide3.xml" Id="Rc5ce8a9339c541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3558f5e2744a09" /><Relationship Type="http://schemas.openxmlformats.org/officeDocument/2006/relationships/notesSlide" Target="/ppt/notesSlides/notesSlide4.xml" Id="R6b09246ce2c74c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6bd10ac6394f21" /><Relationship Type="http://schemas.openxmlformats.org/officeDocument/2006/relationships/notesSlide" Target="/ppt/notesSlides/notesSlide5.xml" Id="R6d8916954b2748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91058e95584117" /><Relationship Type="http://schemas.openxmlformats.org/officeDocument/2006/relationships/notesSlide" Target="/ppt/notesSlides/notesSlide6.xml" Id="R4acdb45410e140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5c5121d3e94195" /><Relationship Type="http://schemas.openxmlformats.org/officeDocument/2006/relationships/notesSlide" Target="/ppt/notesSlides/notesSlide7.xml" Id="Rf9883f056de94f6d" /></Relationships>
</file>

<file path=ppt/slides/slide1.xml><?xml version="1.0" encoding="utf-8"?>
<p:sld xmlns:p="http://schemas.openxmlformats.org/presentationml/2006/main">
  <p:cSld>
    <p:bg>
      <p:bgPr>
        <a:solidFill xmlns:a="http://schemas.openxmlformats.org/drawingml/2006/main">
          <a:srgbClr val="5753A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E4F8D73-C5F2-4EC4-98BF-B2699F3A9B6A}"/>
              </a:ext>
            </a:extLst>
          </p:cNvPr>
          <p:cNvSpPr>
            <a:spLocks xmlns:a="http://schemas.openxmlformats.org/drawingml/2006/main" noGrp="1"/>
          </p:cNvSpPr>
          <p:nvPr/>
        </p:nvSpPr>
        <p:spPr>
          <a:xfrm xmlns:a="http://schemas.openxmlformats.org/drawingml/2006/main">
            <a:off x="628650" y="3524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FFFFFF"/>
                </a:solidFill>
                <a:latin typeface="DM Sans"/>
                <a:ea typeface="DM Sans"/>
                <a:cs typeface="DM Sans"/>
              </a:defRPr>
            </a:pPr>
            <a:r>
              <a:rPr sz="1275" b="1">
                <a:solidFill>
                  <a:srgbClr val="FFFFFF"/>
                </a:solidFill>
                <a:latin typeface="DM Sans"/>
                <a:ea typeface="DM Sans"/>
                <a:cs typeface="DM Sans"/>
              </a:rPr>
              <a:t>UNPAUSE</a:t>
            </a:r>
          </a:p>
        </p:txBody>
      </p:sp>
      <p:sp>
        <p:nvSpPr>
          <p:cNvPr id="2" name="">
            <a:extLst xmlns:a="http://schemas.openxmlformats.org/drawingml/2006/main">
              <a:ext uri="{FF2B5EF4-FFF2-40B4-BE49-F238E27FC236}">
                <a16:creationId xmlns:a16="http://schemas.microsoft.com/office/drawing/2014/main" id="{8D5412D9-501C-45FF-BD4E-D43A0F9C1EC8}"/>
              </a:ext>
            </a:extLst>
          </p:cNvPr>
          <p:cNvSpPr>
            <a:spLocks xmlns:a="http://schemas.openxmlformats.org/drawingml/2006/main" noGrp="1"/>
          </p:cNvSpPr>
          <p:nvPr/>
        </p:nvSpPr>
        <p:spPr>
          <a:xfrm xmlns:a="http://schemas.openxmlformats.org/drawingml/2006/main">
            <a:off x="11049000" y="62674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a:solidFill>
                  <a:srgbClr val="D9D7F0"/>
                </a:solidFill>
                <a:latin typeface="DM Sans"/>
                <a:ea typeface="DM Sans"/>
                <a:cs typeface="DM Sans"/>
              </a:defRPr>
            </a:pPr>
            <a:r>
              <a:rPr sz="1125">
                <a:solidFill>
                  <a:srgbClr val="D9D7F0"/>
                </a:solidFill>
                <a:latin typeface="DM Sans"/>
                <a:ea typeface="DM Sans"/>
                <a:cs typeface="DM Sans"/>
              </a:rPr>
              <a:t>01</a:t>
            </a:r>
          </a:p>
        </p:txBody>
      </p:sp>
      <p:sp>
        <p:nvSpPr>
          <p:cNvPr id="3" name="">
            <a:extLst xmlns:a="http://schemas.openxmlformats.org/drawingml/2006/main">
              <a:ext uri="{FF2B5EF4-FFF2-40B4-BE49-F238E27FC236}">
                <a16:creationId xmlns:a16="http://schemas.microsoft.com/office/drawing/2014/main" id="{13022399-17F1-43C2-8944-C095BE6CB379}"/>
              </a:ext>
            </a:extLst>
          </p:cNvPr>
          <p:cNvSpPr>
            <a:spLocks xmlns:a="http://schemas.openxmlformats.org/drawingml/2006/main" noGrp="1"/>
          </p:cNvSpPr>
          <p:nvPr/>
        </p:nvSpPr>
        <p:spPr>
          <a:xfrm xmlns:a="http://schemas.openxmlformats.org/drawingml/2006/main">
            <a:off x="9582150" y="1133475"/>
            <a:ext cx="171450" cy="733425"/>
          </a:xfrm>
          <a:prstGeom xmlns:a="http://schemas.openxmlformats.org/drawingml/2006/main" prst="rect">
            <a:avLst/>
          </a:prstGeom>
          <a:solidFill xmlns:a="http://schemas.openxmlformats.org/drawingml/2006/main">
            <a:srgbClr val="DAD7F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FB3BCB-B97F-4D5B-8FCB-162DC683D0F3}"/>
              </a:ext>
            </a:extLst>
          </p:cNvPr>
          <p:cNvSpPr>
            <a:spLocks xmlns:a="http://schemas.openxmlformats.org/drawingml/2006/main" noGrp="1"/>
          </p:cNvSpPr>
          <p:nvPr/>
        </p:nvSpPr>
        <p:spPr>
          <a:xfrm xmlns:a="http://schemas.openxmlformats.org/drawingml/2006/main">
            <a:off x="9906000" y="1133475"/>
            <a:ext cx="171450" cy="733425"/>
          </a:xfrm>
          <a:prstGeom xmlns:a="http://schemas.openxmlformats.org/drawingml/2006/main" prst="rect">
            <a:avLst/>
          </a:prstGeom>
          <a:solidFill xmlns:a="http://schemas.openxmlformats.org/drawingml/2006/main">
            <a:srgbClr val="DAD7F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99D7338-8342-4154-B951-E48A459AF2DB}"/>
              </a:ext>
            </a:extLst>
          </p:cNvPr>
          <p:cNvSpPr>
            <a:spLocks xmlns:a="http://schemas.openxmlformats.org/drawingml/2006/main" noGrp="1"/>
          </p:cNvSpPr>
          <p:nvPr/>
        </p:nvSpPr>
        <p:spPr>
          <a:xfrm xmlns:a="http://schemas.openxmlformats.org/drawingml/2006/main" rot="5400000">
            <a:off x="10382250" y="1133475"/>
            <a:ext cx="733425" cy="733425"/>
          </a:xfrm>
          <a:prstGeom xmlns:a="http://schemas.openxmlformats.org/drawingml/2006/main" prst="triangle">
            <a:avLst/>
          </a:prstGeom>
          <a:solidFill xmlns:a="http://schemas.openxmlformats.org/drawingml/2006/main">
            <a:srgbClr val="DAD7F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2DD2A9D-93BB-4119-853D-46B93F9CAA21}"/>
              </a:ext>
            </a:extLst>
          </p:cNvPr>
          <p:cNvSpPr>
            <a:spLocks xmlns:a="http://schemas.openxmlformats.org/drawingml/2006/main" noGrp="1"/>
          </p:cNvSpPr>
          <p:nvPr/>
        </p:nvSpPr>
        <p:spPr>
          <a:xfrm xmlns:a="http://schemas.openxmlformats.org/drawingml/2006/main">
            <a:off x="609600" y="2066925"/>
            <a:ext cx="952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700">
                <a:solidFill>
                  <a:srgbClr val="FFFFFF"/>
                </a:solidFill>
                <a:latin typeface="Georgia"/>
                <a:ea typeface="Georgia"/>
                <a:cs typeface="Georgia"/>
              </a:defRPr>
            </a:pPr>
            <a:r>
              <a:rPr sz="8700">
                <a:solidFill>
                  <a:srgbClr val="FFFFFF"/>
                </a:solidFill>
                <a:latin typeface="Georgia"/>
                <a:ea typeface="Georgia"/>
                <a:cs typeface="Georgia"/>
              </a:rPr>
              <a:t>Unpause</a:t>
            </a:r>
          </a:p>
        </p:txBody>
      </p:sp>
      <p:sp>
        <p:nvSpPr>
          <p:cNvPr id="7" name="">
            <a:extLst xmlns:a="http://schemas.openxmlformats.org/drawingml/2006/main">
              <a:ext uri="{FF2B5EF4-FFF2-40B4-BE49-F238E27FC236}">
                <a16:creationId xmlns:a16="http://schemas.microsoft.com/office/drawing/2014/main" id="{3C16DE72-0339-4AA2-8801-EBBA0499CA95}"/>
              </a:ext>
            </a:extLst>
          </p:cNvPr>
          <p:cNvSpPr>
            <a:spLocks xmlns:a="http://schemas.openxmlformats.org/drawingml/2006/main" noGrp="1"/>
          </p:cNvSpPr>
          <p:nvPr/>
        </p:nvSpPr>
        <p:spPr>
          <a:xfrm xmlns:a="http://schemas.openxmlformats.org/drawingml/2006/main">
            <a:off x="657225" y="36480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a:solidFill>
                  <a:srgbClr val="FFFFFF"/>
                </a:solidFill>
                <a:latin typeface="DM Sans"/>
                <a:ea typeface="DM Sans"/>
                <a:cs typeface="DM Sans"/>
              </a:defRPr>
            </a:pPr>
            <a:r>
              <a:rPr sz="3225">
                <a:solidFill>
                  <a:srgbClr val="FFFFFF"/>
                </a:solidFill>
                <a:latin typeface="DM Sans"/>
                <a:ea typeface="DM Sans"/>
                <a:cs typeface="DM Sans"/>
              </a:rPr>
              <a:t>Leave yourself a way back.</a:t>
            </a:r>
          </a:p>
        </p:txBody>
      </p:sp>
      <p:sp>
        <p:nvSpPr>
          <p:cNvPr id="8" name="">
            <a:extLst xmlns:a="http://schemas.openxmlformats.org/drawingml/2006/main">
              <a:ext uri="{FF2B5EF4-FFF2-40B4-BE49-F238E27FC236}">
                <a16:creationId xmlns:a16="http://schemas.microsoft.com/office/drawing/2014/main" id="{F45081E0-A6E9-4642-98B5-C23FBEAF867D}"/>
              </a:ext>
            </a:extLst>
          </p:cNvPr>
          <p:cNvSpPr>
            <a:spLocks xmlns:a="http://schemas.openxmlformats.org/drawingml/2006/main" noGrp="1"/>
          </p:cNvSpPr>
          <p:nvPr/>
        </p:nvSpPr>
        <p:spPr>
          <a:xfrm xmlns:a="http://schemas.openxmlformats.org/drawingml/2006/main">
            <a:off x="666750" y="45148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a:solidFill>
                  <a:srgbClr val="E4E1F4"/>
                </a:solidFill>
                <a:latin typeface="DM Sans"/>
                <a:ea typeface="DM Sans"/>
                <a:cs typeface="DM Sans"/>
              </a:defRPr>
            </a:pPr>
            <a:r>
              <a:rPr sz="1950">
                <a:solidFill>
                  <a:srgbClr val="E4E1F4"/>
                </a:solidFill>
                <a:latin typeface="DM Sans"/>
                <a:ea typeface="DM Sans"/>
                <a:cs typeface="DM Sans"/>
              </a:rPr>
              <a:t>A pocket handoff for unfinished hobbies</a:t>
            </a:r>
          </a:p>
        </p:txBody>
      </p:sp>
      <p:sp>
        <p:nvSpPr>
          <p:cNvPr id="9" name="">
            <a:extLst xmlns:a="http://schemas.openxmlformats.org/drawingml/2006/main">
              <a:ext uri="{FF2B5EF4-FFF2-40B4-BE49-F238E27FC236}">
                <a16:creationId xmlns:a16="http://schemas.microsoft.com/office/drawing/2014/main" id="{DC6953EF-6C67-4A4F-BDEF-5C6A6C176E05}"/>
              </a:ext>
            </a:extLst>
          </p:cNvPr>
          <p:cNvSpPr>
            <a:spLocks xmlns:a="http://schemas.openxmlformats.org/drawingml/2006/main" noGrp="1"/>
          </p:cNvSpPr>
          <p:nvPr/>
        </p:nvSpPr>
        <p:spPr>
          <a:xfrm xmlns:a="http://schemas.openxmlformats.org/drawingml/2006/main">
            <a:off x="666750" y="59436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FFFFFF"/>
                </a:solidFill>
                <a:latin typeface="DM Sans"/>
                <a:ea typeface="DM Sans"/>
                <a:cs typeface="DM Sans"/>
              </a:defRPr>
            </a:pPr>
            <a:r>
              <a:rPr sz="1650">
                <a:solidFill>
                  <a:srgbClr val="FFFFFF"/>
                </a:solidFill>
                <a:latin typeface="DM Sans"/>
                <a:ea typeface="DM Sans"/>
                <a:cs typeface="DM Sans"/>
              </a:rPr>
              <a:t>Shivam Gupta · Creator</a:t>
            </a:r>
          </a:p>
        </p:txBody>
      </p:sp>
    </p:spTree>
    <p:extLst>
      <p:ext uri="{BB962C8B-B14F-4D97-AF65-F5344CB8AC3E}">
        <p14:creationId xmlns:p14="http://schemas.microsoft.com/office/powerpoint/2010/main" val="231436439"/>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3DB6E7-89EC-4273-A593-AC4560D8F8E0}"/>
              </a:ext>
            </a:extLst>
          </p:cNvPr>
          <p:cNvSpPr>
            <a:spLocks xmlns:a="http://schemas.openxmlformats.org/drawingml/2006/main" noGrp="1"/>
          </p:cNvSpPr>
          <p:nvPr/>
        </p:nvSpPr>
        <p:spPr>
          <a:xfrm xmlns:a="http://schemas.openxmlformats.org/drawingml/2006/main">
            <a:off x="628650" y="3524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5753A3"/>
                </a:solidFill>
                <a:latin typeface="DM Sans"/>
                <a:ea typeface="DM Sans"/>
                <a:cs typeface="DM Sans"/>
              </a:defRPr>
            </a:pPr>
            <a:r>
              <a:rPr sz="1275" b="1">
                <a:solidFill>
                  <a:srgbClr val="5753A3"/>
                </a:solidFill>
                <a:latin typeface="DM Sans"/>
                <a:ea typeface="DM Sans"/>
                <a:cs typeface="DM Sans"/>
              </a:rPr>
              <a:t>UNPAUSE</a:t>
            </a:r>
          </a:p>
        </p:txBody>
      </p:sp>
      <p:sp>
        <p:nvSpPr>
          <p:cNvPr id="2" name="">
            <a:extLst xmlns:a="http://schemas.openxmlformats.org/drawingml/2006/main">
              <a:ext uri="{FF2B5EF4-FFF2-40B4-BE49-F238E27FC236}">
                <a16:creationId xmlns:a16="http://schemas.microsoft.com/office/drawing/2014/main" id="{953E4CBE-7D0E-4774-B25F-1A93893AC7F5}"/>
              </a:ext>
            </a:extLst>
          </p:cNvPr>
          <p:cNvSpPr>
            <a:spLocks xmlns:a="http://schemas.openxmlformats.org/drawingml/2006/main" noGrp="1"/>
          </p:cNvSpPr>
          <p:nvPr/>
        </p:nvSpPr>
        <p:spPr>
          <a:xfrm xmlns:a="http://schemas.openxmlformats.org/drawingml/2006/main">
            <a:off x="11049000" y="62674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a:solidFill>
                  <a:srgbClr val="696978"/>
                </a:solidFill>
                <a:latin typeface="DM Sans"/>
                <a:ea typeface="DM Sans"/>
                <a:cs typeface="DM Sans"/>
              </a:defRPr>
            </a:pPr>
            <a:r>
              <a:rPr sz="1125">
                <a:solidFill>
                  <a:srgbClr val="696978"/>
                </a:solidFill>
                <a:latin typeface="DM Sans"/>
                <a:ea typeface="DM Sans"/>
                <a:cs typeface="DM Sans"/>
              </a:rPr>
              <a:t>02</a:t>
            </a:r>
          </a:p>
        </p:txBody>
      </p:sp>
      <p:sp>
        <p:nvSpPr>
          <p:cNvPr id="3" name="">
            <a:extLst xmlns:a="http://schemas.openxmlformats.org/drawingml/2006/main">
              <a:ext uri="{FF2B5EF4-FFF2-40B4-BE49-F238E27FC236}">
                <a16:creationId xmlns:a16="http://schemas.microsoft.com/office/drawing/2014/main" id="{47429EC2-A040-444A-998D-53AFA78AE9F3}"/>
              </a:ext>
            </a:extLst>
          </p:cNvPr>
          <p:cNvSpPr>
            <a:spLocks xmlns:a="http://schemas.openxmlformats.org/drawingml/2006/main" noGrp="1"/>
          </p:cNvSpPr>
          <p:nvPr/>
        </p:nvSpPr>
        <p:spPr>
          <a:xfrm xmlns:a="http://schemas.openxmlformats.org/drawingml/2006/main">
            <a:off x="628650" y="9810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a:solidFill>
                  <a:srgbClr val="252638"/>
                </a:solidFill>
                <a:latin typeface="Georgia"/>
                <a:ea typeface="Georgia"/>
                <a:cs typeface="Georgia"/>
              </a:defRPr>
            </a:pPr>
            <a:r>
              <a:rPr sz="4050">
                <a:solidFill>
                  <a:srgbClr val="252638"/>
                </a:solidFill>
                <a:latin typeface="Georgia"/>
                <a:ea typeface="Georgia"/>
                <a:cs typeface="Georgia"/>
              </a:rPr>
              <a:t>The project is waiting.</a:t>
            </a:r>
          </a:p>
          <a:p xmlns:a="http://schemas.openxmlformats.org/drawingml/2006/main">
            <a:pPr>
              <a:defRPr sz="4050">
                <a:solidFill>
                  <a:srgbClr val="252638"/>
                </a:solidFill>
                <a:latin typeface="Georgia"/>
                <a:ea typeface="Georgia"/>
                <a:cs typeface="Georgia"/>
              </a:defRPr>
            </a:pPr>
            <a:r>
              <a:rPr sz="4050">
                <a:solidFill>
                  <a:srgbClr val="252638"/>
                </a:solidFill>
                <a:latin typeface="Georgia"/>
                <a:ea typeface="Georgia"/>
                <a:cs typeface="Georgia"/>
              </a:rPr>
              <a:t>Your context is missing.</a:t>
            </a:r>
          </a:p>
        </p:txBody>
      </p:sp>
      <p:sp>
        <p:nvSpPr>
          <p:cNvPr id="4" name="">
            <a:extLst xmlns:a="http://schemas.openxmlformats.org/drawingml/2006/main">
              <a:ext uri="{FF2B5EF4-FFF2-40B4-BE49-F238E27FC236}">
                <a16:creationId xmlns:a16="http://schemas.microsoft.com/office/drawing/2014/main" id="{0A43DE4E-A1CA-47DF-8ABF-C7DF0CF6D8B9}"/>
              </a:ext>
            </a:extLst>
          </p:cNvPr>
          <p:cNvSpPr>
            <a:spLocks xmlns:a="http://schemas.openxmlformats.org/drawingml/2006/main" noGrp="1"/>
          </p:cNvSpPr>
          <p:nvPr/>
        </p:nvSpPr>
        <p:spPr>
          <a:xfrm xmlns:a="http://schemas.openxmlformats.org/drawingml/2006/main">
            <a:off x="638175" y="3019425"/>
            <a:ext cx="32861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0">
                <a:solidFill>
                  <a:srgbClr val="5753A3"/>
                </a:solidFill>
                <a:latin typeface="Georgia"/>
                <a:ea typeface="Georgia"/>
                <a:cs typeface="Georgia"/>
              </a:defRPr>
            </a:pPr>
            <a:r>
              <a:rPr sz="11250">
                <a:solidFill>
                  <a:srgbClr val="5753A3"/>
                </a:solidFill>
                <a:latin typeface="Georgia"/>
                <a:ea typeface="Georgia"/>
                <a:cs typeface="Georgia"/>
              </a:rPr>
              <a:t>10</a:t>
            </a:r>
          </a:p>
        </p:txBody>
      </p:sp>
      <p:sp>
        <p:nvSpPr>
          <p:cNvPr id="5" name="">
            <a:extLst xmlns:a="http://schemas.openxmlformats.org/drawingml/2006/main">
              <a:ext uri="{FF2B5EF4-FFF2-40B4-BE49-F238E27FC236}">
                <a16:creationId xmlns:a16="http://schemas.microsoft.com/office/drawing/2014/main" id="{36471447-EAE0-441E-9E70-164EDF845D77}"/>
              </a:ext>
            </a:extLst>
          </p:cNvPr>
          <p:cNvSpPr>
            <a:spLocks xmlns:a="http://schemas.openxmlformats.org/drawingml/2006/main" noGrp="1"/>
          </p:cNvSpPr>
          <p:nvPr/>
        </p:nvSpPr>
        <p:spPr>
          <a:xfrm xmlns:a="http://schemas.openxmlformats.org/drawingml/2006/main">
            <a:off x="723900" y="48006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a:solidFill>
                  <a:srgbClr val="252638"/>
                </a:solidFill>
                <a:latin typeface="DM Sans"/>
                <a:ea typeface="DM Sans"/>
                <a:cs typeface="DM Sans"/>
              </a:defRPr>
            </a:pPr>
            <a:r>
              <a:rPr sz="2175">
                <a:solidFill>
                  <a:srgbClr val="252638"/>
                </a:solidFill>
                <a:latin typeface="DM Sans"/>
                <a:ea typeface="DM Sans"/>
                <a:cs typeface="DM Sans"/>
              </a:rPr>
              <a:t>minutes free</a:t>
            </a:r>
          </a:p>
        </p:txBody>
      </p:sp>
      <p:sp>
        <p:nvSpPr>
          <p:cNvPr id="6" name="">
            <a:extLst xmlns:a="http://schemas.openxmlformats.org/drawingml/2006/main">
              <a:ext uri="{FF2B5EF4-FFF2-40B4-BE49-F238E27FC236}">
                <a16:creationId xmlns:a16="http://schemas.microsoft.com/office/drawing/2014/main" id="{A96BF0CC-939A-469D-BE7D-17293154E0D3}"/>
              </a:ext>
            </a:extLst>
          </p:cNvPr>
          <p:cNvSpPr>
            <a:spLocks xmlns:a="http://schemas.openxmlformats.org/drawingml/2006/main" noGrp="1"/>
          </p:cNvSpPr>
          <p:nvPr/>
        </p:nvSpPr>
        <p:spPr>
          <a:xfrm xmlns:a="http://schemas.openxmlformats.org/drawingml/2006/main">
            <a:off x="4648200" y="3057525"/>
            <a:ext cx="676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25000"/>
              </a:lnSpc>
              <a:buNone/>
              <a:defRPr sz="2700">
                <a:solidFill>
                  <a:srgbClr val="252638"/>
                </a:solidFill>
                <a:latin typeface="DM Sans"/>
                <a:ea typeface="DM Sans"/>
                <a:cs typeface="DM Sans"/>
              </a:defRPr>
            </a:pPr>
            <a:r>
              <a:rPr sz="2700">
                <a:solidFill>
                  <a:srgbClr val="252638"/>
                </a:solidFill>
                <a:latin typeface="DM Sans"/>
                <a:ea typeface="DM Sans"/>
                <a:cs typeface="DM Sans"/>
              </a:rPr>
              <a:t>Where did I stop?</a:t>
            </a:r>
          </a:p>
          <a:p xmlns:a="http://schemas.openxmlformats.org/drawingml/2006/main">
            <a:pPr>
              <a:lnSpc>
                <a:spcPct val="125000"/>
              </a:lnSpc>
              <a:buNone/>
              <a:defRPr sz="2700">
                <a:solidFill>
                  <a:srgbClr val="252638"/>
                </a:solidFill>
                <a:latin typeface="DM Sans"/>
                <a:ea typeface="DM Sans"/>
                <a:cs typeface="DM Sans"/>
              </a:defRPr>
            </a:pPr>
            <a:r>
              <a:rPr sz="2700">
                <a:solidFill>
                  <a:srgbClr val="252638"/>
                </a:solidFill>
                <a:latin typeface="DM Sans"/>
                <a:ea typeface="DM Sans"/>
                <a:cs typeface="DM Sans"/>
              </a:rPr>
              <a:t>What was the next step?</a:t>
            </a:r>
          </a:p>
          <a:p xmlns:a="http://schemas.openxmlformats.org/drawingml/2006/main">
            <a:pPr>
              <a:lnSpc>
                <a:spcPct val="125000"/>
              </a:lnSpc>
              <a:buNone/>
              <a:defRPr sz="2700">
                <a:solidFill>
                  <a:srgbClr val="252638"/>
                </a:solidFill>
                <a:latin typeface="DM Sans"/>
                <a:ea typeface="DM Sans"/>
                <a:cs typeface="DM Sans"/>
              </a:defRPr>
            </a:pPr>
            <a:r>
              <a:rPr sz="2700">
                <a:solidFill>
                  <a:srgbClr val="252638"/>
                </a:solidFill>
                <a:latin typeface="DM Sans"/>
                <a:ea typeface="DM Sans"/>
                <a:cs typeface="DM Sans"/>
              </a:rPr>
              <a:t>Where did I put the materials?</a:t>
            </a:r>
          </a:p>
        </p:txBody>
      </p:sp>
      <p:sp>
        <p:nvSpPr>
          <p:cNvPr id="7" name="">
            <a:extLst xmlns:a="http://schemas.openxmlformats.org/drawingml/2006/main">
              <a:ext uri="{FF2B5EF4-FFF2-40B4-BE49-F238E27FC236}">
                <a16:creationId xmlns:a16="http://schemas.microsoft.com/office/drawing/2014/main" id="{E5FF5E3B-9850-4A6C-9425-D6D165A53A19}"/>
              </a:ext>
            </a:extLst>
          </p:cNvPr>
          <p:cNvSpPr>
            <a:spLocks xmlns:a="http://schemas.openxmlformats.org/drawingml/2006/main" noGrp="1"/>
          </p:cNvSpPr>
          <p:nvPr/>
        </p:nvSpPr>
        <p:spPr>
          <a:xfrm xmlns:a="http://schemas.openxmlformats.org/drawingml/2006/main">
            <a:off x="657225" y="57150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a:solidFill>
                  <a:srgbClr val="696978"/>
                </a:solidFill>
                <a:latin typeface="DM Sans"/>
                <a:ea typeface="DM Sans"/>
                <a:cs typeface="DM Sans"/>
              </a:defRPr>
            </a:pPr>
            <a:r>
              <a:rPr sz="1725">
                <a:solidFill>
                  <a:srgbClr val="696978"/>
                </a:solidFill>
                <a:latin typeface="DM Sans"/>
                <a:ea typeface="DM Sans"/>
                <a:cs typeface="DM Sans"/>
              </a:rPr>
              <a:t>Initial audience: makers with several unfinished physical projects.</a:t>
            </a:r>
          </a:p>
        </p:txBody>
      </p:sp>
    </p:spTree>
    <p:extLst>
      <p:ext uri="{BB962C8B-B14F-4D97-AF65-F5344CB8AC3E}">
        <p14:creationId xmlns:p14="http://schemas.microsoft.com/office/powerpoint/2010/main" val="1737557798"/>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789AE44-F5CD-4112-8FBF-3E570769929B}"/>
              </a:ext>
            </a:extLst>
          </p:cNvPr>
          <p:cNvSpPr>
            <a:spLocks xmlns:a="http://schemas.openxmlformats.org/drawingml/2006/main" noGrp="1"/>
          </p:cNvSpPr>
          <p:nvPr/>
        </p:nvSpPr>
        <p:spPr>
          <a:xfrm xmlns:a="http://schemas.openxmlformats.org/drawingml/2006/main">
            <a:off x="628650" y="3524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5753A3"/>
                </a:solidFill>
                <a:latin typeface="DM Sans"/>
                <a:ea typeface="DM Sans"/>
                <a:cs typeface="DM Sans"/>
              </a:defRPr>
            </a:pPr>
            <a:r>
              <a:rPr sz="1275" b="1">
                <a:solidFill>
                  <a:srgbClr val="5753A3"/>
                </a:solidFill>
                <a:latin typeface="DM Sans"/>
                <a:ea typeface="DM Sans"/>
                <a:cs typeface="DM Sans"/>
              </a:rPr>
              <a:t>UNPAUSE</a:t>
            </a:r>
          </a:p>
        </p:txBody>
      </p:sp>
      <p:sp>
        <p:nvSpPr>
          <p:cNvPr id="2" name="">
            <a:extLst xmlns:a="http://schemas.openxmlformats.org/drawingml/2006/main">
              <a:ext uri="{FF2B5EF4-FFF2-40B4-BE49-F238E27FC236}">
                <a16:creationId xmlns:a16="http://schemas.microsoft.com/office/drawing/2014/main" id="{B1C5AEDD-B111-4214-B1AD-4B1258B28E49}"/>
              </a:ext>
            </a:extLst>
          </p:cNvPr>
          <p:cNvSpPr>
            <a:spLocks xmlns:a="http://schemas.openxmlformats.org/drawingml/2006/main" noGrp="1"/>
          </p:cNvSpPr>
          <p:nvPr/>
        </p:nvSpPr>
        <p:spPr>
          <a:xfrm xmlns:a="http://schemas.openxmlformats.org/drawingml/2006/main">
            <a:off x="11049000" y="62674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a:solidFill>
                  <a:srgbClr val="696978"/>
                </a:solidFill>
                <a:latin typeface="DM Sans"/>
                <a:ea typeface="DM Sans"/>
                <a:cs typeface="DM Sans"/>
              </a:defRPr>
            </a:pPr>
            <a:r>
              <a:rPr sz="1125">
                <a:solidFill>
                  <a:srgbClr val="696978"/>
                </a:solidFill>
                <a:latin typeface="DM Sans"/>
                <a:ea typeface="DM Sans"/>
                <a:cs typeface="DM Sans"/>
              </a:rPr>
              <a:t>03</a:t>
            </a:r>
          </a:p>
        </p:txBody>
      </p:sp>
      <p:sp>
        <p:nvSpPr>
          <p:cNvPr id="3" name="">
            <a:extLst xmlns:a="http://schemas.openxmlformats.org/drawingml/2006/main">
              <a:ext uri="{FF2B5EF4-FFF2-40B4-BE49-F238E27FC236}">
                <a16:creationId xmlns:a16="http://schemas.microsoft.com/office/drawing/2014/main" id="{81ADB853-31B2-48F6-B525-4FC78868C061}"/>
              </a:ext>
            </a:extLst>
          </p:cNvPr>
          <p:cNvSpPr>
            <a:spLocks xmlns:a="http://schemas.openxmlformats.org/drawingml/2006/main" noGrp="1"/>
          </p:cNvSpPr>
          <p:nvPr/>
        </p:nvSpPr>
        <p:spPr>
          <a:xfrm xmlns:a="http://schemas.openxmlformats.org/drawingml/2006/main">
            <a:off x="628650" y="1057275"/>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425">
                <a:solidFill>
                  <a:srgbClr val="252638"/>
                </a:solidFill>
                <a:latin typeface="Georgia"/>
                <a:ea typeface="Georgia"/>
                <a:cs typeface="Georgia"/>
              </a:defRPr>
            </a:pPr>
            <a:r>
              <a:rPr sz="4425">
                <a:solidFill>
                  <a:srgbClr val="252638"/>
                </a:solidFill>
                <a:latin typeface="Georgia"/>
                <a:ea typeface="Georgia"/>
                <a:cs typeface="Georgia"/>
              </a:rPr>
              <a:t>The handoff</a:t>
            </a:r>
          </a:p>
        </p:txBody>
      </p:sp>
      <p:sp>
        <p:nvSpPr>
          <p:cNvPr id="4" name="">
            <a:extLst xmlns:a="http://schemas.openxmlformats.org/drawingml/2006/main">
              <a:ext uri="{FF2B5EF4-FFF2-40B4-BE49-F238E27FC236}">
                <a16:creationId xmlns:a16="http://schemas.microsoft.com/office/drawing/2014/main" id="{1BEB30F1-C5E0-4872-ACC0-C88ECE7C38EC}"/>
              </a:ext>
            </a:extLst>
          </p:cNvPr>
          <p:cNvSpPr>
            <a:spLocks xmlns:a="http://schemas.openxmlformats.org/drawingml/2006/main" noGrp="1"/>
          </p:cNvSpPr>
          <p:nvPr/>
        </p:nvSpPr>
        <p:spPr>
          <a:xfrm xmlns:a="http://schemas.openxmlformats.org/drawingml/2006/main">
            <a:off x="666750" y="2209800"/>
            <a:ext cx="4572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16000"/>
              </a:lnSpc>
              <a:buNone/>
              <a:defRPr sz="2625">
                <a:solidFill>
                  <a:srgbClr val="252638"/>
                </a:solidFill>
                <a:latin typeface="DM Sans"/>
                <a:ea typeface="DM Sans"/>
                <a:cs typeface="DM Sans"/>
              </a:defRPr>
            </a:pPr>
            <a:r>
              <a:rPr sz="2625">
                <a:solidFill>
                  <a:srgbClr val="252638"/>
                </a:solidFill>
                <a:latin typeface="DM Sans"/>
                <a:ea typeface="DM Sans"/>
                <a:cs typeface="DM Sans"/>
              </a:rPr>
              <a:t>One small action.</a:t>
            </a:r>
          </a:p>
          <a:p xmlns:a="http://schemas.openxmlformats.org/drawingml/2006/main">
            <a:pPr>
              <a:lnSpc>
                <a:spcPct val="116000"/>
              </a:lnSpc>
              <a:buNone/>
              <a:defRPr sz="2625">
                <a:solidFill>
                  <a:srgbClr val="252638"/>
                </a:solidFill>
                <a:latin typeface="DM Sans"/>
                <a:ea typeface="DM Sans"/>
                <a:cs typeface="DM Sans"/>
              </a:defRPr>
            </a:pPr>
            <a:r>
              <a:rPr sz="2625">
                <a:solidFill>
                  <a:srgbClr val="252638"/>
                </a:solidFill>
                <a:latin typeface="DM Sans"/>
                <a:ea typeface="DM Sans"/>
                <a:cs typeface="DM Sans"/>
              </a:rPr>
              <a:t>Enough context to begin.</a:t>
            </a:r>
          </a:p>
        </p:txBody>
      </p:sp>
      <p:sp>
        <p:nvSpPr>
          <p:cNvPr id="5" name="">
            <a:extLst xmlns:a="http://schemas.openxmlformats.org/drawingml/2006/main">
              <a:ext uri="{FF2B5EF4-FFF2-40B4-BE49-F238E27FC236}">
                <a16:creationId xmlns:a16="http://schemas.microsoft.com/office/drawing/2014/main" id="{202D69FF-638F-4611-B658-5E126688061E}"/>
              </a:ext>
            </a:extLst>
          </p:cNvPr>
          <p:cNvSpPr>
            <a:spLocks xmlns:a="http://schemas.openxmlformats.org/drawingml/2006/main" noGrp="1"/>
          </p:cNvSpPr>
          <p:nvPr/>
        </p:nvSpPr>
        <p:spPr>
          <a:xfrm xmlns:a="http://schemas.openxmlformats.org/drawingml/2006/main">
            <a:off x="666750" y="41148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696978"/>
                </a:solidFill>
                <a:latin typeface="DM Sans"/>
                <a:ea typeface="DM Sans"/>
                <a:cs typeface="DM Sans"/>
              </a:defRPr>
            </a:pPr>
            <a:r>
              <a:rPr sz="2025">
                <a:solidFill>
                  <a:srgbClr val="696978"/>
                </a:solidFill>
                <a:latin typeface="DM Sans"/>
                <a:ea typeface="DM Sans"/>
                <a:cs typeface="DM Sans"/>
              </a:rPr>
              <a:t>Save it before you stop.</a:t>
            </a:r>
          </a:p>
          <a:p xmlns:a="http://schemas.openxmlformats.org/drawingml/2006/main">
            <a:pPr>
              <a:defRPr sz="2025">
                <a:solidFill>
                  <a:srgbClr val="696978"/>
                </a:solidFill>
                <a:latin typeface="DM Sans"/>
                <a:ea typeface="DM Sans"/>
                <a:cs typeface="DM Sans"/>
              </a:defRPr>
            </a:pPr>
            <a:r>
              <a:rPr sz="2025">
                <a:solidFill>
                  <a:srgbClr val="696978"/>
                </a:solidFill>
                <a:latin typeface="DM Sans"/>
                <a:ea typeface="DM Sans"/>
                <a:cs typeface="DM Sans"/>
              </a:rPr>
              <a:t>Find it when you return.</a:t>
            </a:r>
          </a:p>
        </p:txBody>
      </p:sp>
      <p:sp>
        <p:nvSpPr>
          <p:cNvPr id="6" name="">
            <a:extLst xmlns:a="http://schemas.openxmlformats.org/drawingml/2006/main">
              <a:ext uri="{FF2B5EF4-FFF2-40B4-BE49-F238E27FC236}">
                <a16:creationId xmlns:a16="http://schemas.microsoft.com/office/drawing/2014/main" id="{D7A7CD1A-AEFD-4868-B4F5-AFF6ED79B332}"/>
              </a:ext>
            </a:extLst>
          </p:cNvPr>
          <p:cNvSpPr>
            <a:spLocks xmlns:a="http://schemas.openxmlformats.org/drawingml/2006/main" noGrp="1"/>
          </p:cNvSpPr>
          <p:nvPr/>
        </p:nvSpPr>
        <p:spPr>
          <a:xfrm xmlns:a="http://schemas.openxmlformats.org/drawingml/2006/main">
            <a:off x="5772150" y="1028700"/>
            <a:ext cx="5772150" cy="4705350"/>
          </a:xfrm>
          <a:prstGeom xmlns:a="http://schemas.openxmlformats.org/drawingml/2006/main" prst="rect">
            <a:avLst/>
          </a:prstGeom>
          <a:solidFill xmlns:a="http://schemas.openxmlformats.org/drawingml/2006/main">
            <a:srgbClr val="FFFFFF"/>
          </a:solidFill>
          <a:ln xmlns:a="http://schemas.openxmlformats.org/drawingml/2006/main" w="9525">
            <a:solidFill>
              <a:srgbClr val="D8D6DE"/>
            </a:solidFill>
          </a:ln>
        </p:spPr>
      </p:sp>
      <p:sp>
        <p:nvSpPr>
          <p:cNvPr id="7" name="">
            <a:extLst xmlns:a="http://schemas.openxmlformats.org/drawingml/2006/main">
              <a:ext uri="{FF2B5EF4-FFF2-40B4-BE49-F238E27FC236}">
                <a16:creationId xmlns:a16="http://schemas.microsoft.com/office/drawing/2014/main" id="{0B8665EC-ED3C-4656-8F3F-26733A7BF74D}"/>
              </a:ext>
            </a:extLst>
          </p:cNvPr>
          <p:cNvSpPr>
            <a:spLocks xmlns:a="http://schemas.openxmlformats.org/drawingml/2006/main" noGrp="1"/>
          </p:cNvSpPr>
          <p:nvPr/>
        </p:nvSpPr>
        <p:spPr>
          <a:xfrm xmlns:a="http://schemas.openxmlformats.org/drawingml/2006/main">
            <a:off x="5772150" y="1028700"/>
            <a:ext cx="76200" cy="4705350"/>
          </a:xfrm>
          <a:prstGeom xmlns:a="http://schemas.openxmlformats.org/drawingml/2006/main" prst="rect">
            <a:avLst/>
          </a:prstGeom>
          <a:solidFill xmlns:a="http://schemas.openxmlformats.org/drawingml/2006/main">
            <a:srgbClr val="5753A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D9F1539-21CC-4EB7-972E-EE63C8A10A49}"/>
              </a:ext>
            </a:extLst>
          </p:cNvPr>
          <p:cNvSpPr>
            <a:spLocks xmlns:a="http://schemas.openxmlformats.org/drawingml/2006/main" noGrp="1"/>
          </p:cNvSpPr>
          <p:nvPr/>
        </p:nvSpPr>
        <p:spPr>
          <a:xfrm xmlns:a="http://schemas.openxmlformats.org/drawingml/2006/main">
            <a:off x="6134100" y="1362075"/>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a:solidFill>
                  <a:srgbClr val="252638"/>
                </a:solidFill>
                <a:latin typeface="Georgia"/>
                <a:ea typeface="Georgia"/>
                <a:cs typeface="Georgia"/>
              </a:defRPr>
            </a:pPr>
            <a:r>
              <a:rPr sz="2775">
                <a:solidFill>
                  <a:srgbClr val="252638"/>
                </a:solidFill>
                <a:latin typeface="Georgia"/>
                <a:ea typeface="Georgia"/>
                <a:cs typeface="Georgia"/>
              </a:rPr>
              <a:t>The Sunday tote</a:t>
            </a:r>
          </a:p>
        </p:txBody>
      </p:sp>
      <p:sp>
        <p:nvSpPr>
          <p:cNvPr id="9" name="">
            <a:extLst xmlns:a="http://schemas.openxmlformats.org/drawingml/2006/main">
              <a:ext uri="{FF2B5EF4-FFF2-40B4-BE49-F238E27FC236}">
                <a16:creationId xmlns:a16="http://schemas.microsoft.com/office/drawing/2014/main" id="{4D5D6625-2118-469E-B72B-71BADC9DF564}"/>
              </a:ext>
            </a:extLst>
          </p:cNvPr>
          <p:cNvSpPr>
            <a:spLocks xmlns:a="http://schemas.openxmlformats.org/drawingml/2006/main" noGrp="1"/>
          </p:cNvSpPr>
          <p:nvPr/>
        </p:nvSpPr>
        <p:spPr>
          <a:xfrm xmlns:a="http://schemas.openxmlformats.org/drawingml/2006/main">
            <a:off x="6162675" y="21240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696978"/>
                </a:solidFill>
                <a:latin typeface="DM Sans"/>
                <a:ea typeface="DM Sans"/>
                <a:cs typeface="DM Sans"/>
              </a:defRPr>
            </a:pPr>
            <a:r>
              <a:rPr sz="1125" b="1">
                <a:solidFill>
                  <a:srgbClr val="696978"/>
                </a:solidFill>
                <a:latin typeface="DM Sans"/>
                <a:ea typeface="DM Sans"/>
                <a:cs typeface="DM Sans"/>
              </a:rPr>
              <a:t>WHERE YOU STOPPED</a:t>
            </a:r>
          </a:p>
        </p:txBody>
      </p:sp>
      <p:sp>
        <p:nvSpPr>
          <p:cNvPr id="10" name="">
            <a:extLst xmlns:a="http://schemas.openxmlformats.org/drawingml/2006/main">
              <a:ext uri="{FF2B5EF4-FFF2-40B4-BE49-F238E27FC236}">
                <a16:creationId xmlns:a16="http://schemas.microsoft.com/office/drawing/2014/main" id="{EE9809D9-1B4D-440A-A2F1-EBCF90D56152}"/>
              </a:ext>
            </a:extLst>
          </p:cNvPr>
          <p:cNvSpPr>
            <a:spLocks xmlns:a="http://schemas.openxmlformats.org/drawingml/2006/main" noGrp="1"/>
          </p:cNvSpPr>
          <p:nvPr/>
        </p:nvSpPr>
        <p:spPr>
          <a:xfrm xmlns:a="http://schemas.openxmlformats.org/drawingml/2006/main">
            <a:off x="6162675" y="24479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a:solidFill>
                  <a:srgbClr val="252638"/>
                </a:solidFill>
                <a:latin typeface="DM Sans"/>
                <a:ea typeface="DM Sans"/>
                <a:cs typeface="DM Sans"/>
              </a:defRPr>
            </a:pPr>
            <a:r>
              <a:rPr sz="2025">
                <a:solidFill>
                  <a:srgbClr val="252638"/>
                </a:solidFill>
                <a:latin typeface="DM Sans"/>
                <a:ea typeface="DM Sans"/>
                <a:cs typeface="DM Sans"/>
              </a:rPr>
              <a:t>Body sewn. Straps pressed.</a:t>
            </a:r>
          </a:p>
        </p:txBody>
      </p:sp>
      <p:sp>
        <p:nvSpPr>
          <p:cNvPr id="11" name="">
            <a:extLst xmlns:a="http://schemas.openxmlformats.org/drawingml/2006/main">
              <a:ext uri="{FF2B5EF4-FFF2-40B4-BE49-F238E27FC236}">
                <a16:creationId xmlns:a16="http://schemas.microsoft.com/office/drawing/2014/main" id="{E1E295C9-FE01-420F-A9D1-8276B33812E0}"/>
              </a:ext>
            </a:extLst>
          </p:cNvPr>
          <p:cNvSpPr>
            <a:spLocks xmlns:a="http://schemas.openxmlformats.org/drawingml/2006/main" noGrp="1"/>
          </p:cNvSpPr>
          <p:nvPr/>
        </p:nvSpPr>
        <p:spPr>
          <a:xfrm xmlns:a="http://schemas.openxmlformats.org/drawingml/2006/main">
            <a:off x="6162675" y="31242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5753A3"/>
                </a:solidFill>
                <a:latin typeface="DM Sans"/>
                <a:ea typeface="DM Sans"/>
                <a:cs typeface="DM Sans"/>
              </a:defRPr>
            </a:pPr>
            <a:r>
              <a:rPr sz="1125" b="1">
                <a:solidFill>
                  <a:srgbClr val="5753A3"/>
                </a:solidFill>
                <a:latin typeface="DM Sans"/>
                <a:ea typeface="DM Sans"/>
                <a:cs typeface="DM Sans"/>
              </a:rPr>
              <a:t>YOUR NEXT TINY STEP</a:t>
            </a:r>
          </a:p>
        </p:txBody>
      </p:sp>
      <p:sp>
        <p:nvSpPr>
          <p:cNvPr id="12" name="">
            <a:extLst xmlns:a="http://schemas.openxmlformats.org/drawingml/2006/main">
              <a:ext uri="{FF2B5EF4-FFF2-40B4-BE49-F238E27FC236}">
                <a16:creationId xmlns:a16="http://schemas.microsoft.com/office/drawing/2014/main" id="{9708FBB8-8042-4DF3-81C7-CE67009069B8}"/>
              </a:ext>
            </a:extLst>
          </p:cNvPr>
          <p:cNvSpPr>
            <a:spLocks xmlns:a="http://schemas.openxmlformats.org/drawingml/2006/main" noGrp="1"/>
          </p:cNvSpPr>
          <p:nvPr/>
        </p:nvSpPr>
        <p:spPr>
          <a:xfrm xmlns:a="http://schemas.openxmlformats.org/drawingml/2006/main">
            <a:off x="6162675" y="3457575"/>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a:solidFill>
                  <a:srgbClr val="252638"/>
                </a:solidFill>
                <a:latin typeface="DM Sans"/>
                <a:ea typeface="DM Sans"/>
                <a:cs typeface="DM Sans"/>
              </a:defRPr>
            </a:pPr>
            <a:r>
              <a:rPr sz="2175">
                <a:solidFill>
                  <a:srgbClr val="252638"/>
                </a:solidFill>
                <a:latin typeface="DM Sans"/>
                <a:ea typeface="DM Sans"/>
                <a:cs typeface="DM Sans"/>
              </a:rPr>
              <a:t>Pin the two straps.</a:t>
            </a:r>
          </a:p>
          <a:p xmlns:a="http://schemas.openxmlformats.org/drawingml/2006/main">
            <a:pPr>
              <a:defRPr sz="2175">
                <a:solidFill>
                  <a:srgbClr val="252638"/>
                </a:solidFill>
                <a:latin typeface="DM Sans"/>
                <a:ea typeface="DM Sans"/>
                <a:cs typeface="DM Sans"/>
              </a:defRPr>
            </a:pPr>
            <a:r>
              <a:rPr sz="2175">
                <a:solidFill>
                  <a:srgbClr val="252638"/>
                </a:solidFill>
                <a:latin typeface="DM Sans"/>
                <a:ea typeface="DM Sans"/>
                <a:cs typeface="DM Sans"/>
              </a:rPr>
              <a:t>The blue pins mark the front.</a:t>
            </a:r>
          </a:p>
        </p:txBody>
      </p:sp>
      <p:sp>
        <p:nvSpPr>
          <p:cNvPr id="13" name="">
            <a:extLst xmlns:a="http://schemas.openxmlformats.org/drawingml/2006/main">
              <a:ext uri="{FF2B5EF4-FFF2-40B4-BE49-F238E27FC236}">
                <a16:creationId xmlns:a16="http://schemas.microsoft.com/office/drawing/2014/main" id="{E1D89C8C-F00B-4B5A-9CB9-910809B3469C}"/>
              </a:ext>
            </a:extLst>
          </p:cNvPr>
          <p:cNvSpPr>
            <a:spLocks xmlns:a="http://schemas.openxmlformats.org/drawingml/2006/main" noGrp="1"/>
          </p:cNvSpPr>
          <p:nvPr/>
        </p:nvSpPr>
        <p:spPr>
          <a:xfrm xmlns:a="http://schemas.openxmlformats.org/drawingml/2006/main">
            <a:off x="6162675" y="46196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696978"/>
                </a:solidFill>
                <a:latin typeface="DM Sans"/>
                <a:ea typeface="DM Sans"/>
                <a:cs typeface="DM Sans"/>
              </a:defRPr>
            </a:pPr>
            <a:r>
              <a:rPr sz="1125" b="1">
                <a:solidFill>
                  <a:srgbClr val="696978"/>
                </a:solidFill>
                <a:latin typeface="DM Sans"/>
                <a:ea typeface="DM Sans"/>
                <a:cs typeface="DM Sans"/>
              </a:rPr>
              <a:t>MATERIALS</a:t>
            </a:r>
          </a:p>
        </p:txBody>
      </p:sp>
      <p:sp>
        <p:nvSpPr>
          <p:cNvPr id="14" name="">
            <a:extLst xmlns:a="http://schemas.openxmlformats.org/drawingml/2006/main">
              <a:ext uri="{FF2B5EF4-FFF2-40B4-BE49-F238E27FC236}">
                <a16:creationId xmlns:a16="http://schemas.microsoft.com/office/drawing/2014/main" id="{AF8D011A-597E-4AFB-82F3-F31A3F8BE59B}"/>
              </a:ext>
            </a:extLst>
          </p:cNvPr>
          <p:cNvSpPr>
            <a:spLocks xmlns:a="http://schemas.openxmlformats.org/drawingml/2006/main" noGrp="1"/>
          </p:cNvSpPr>
          <p:nvPr/>
        </p:nvSpPr>
        <p:spPr>
          <a:xfrm xmlns:a="http://schemas.openxmlformats.org/drawingml/2006/main">
            <a:off x="6162675" y="4981575"/>
            <a:ext cx="4714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a:solidFill>
                  <a:srgbClr val="252638"/>
                </a:solidFill>
                <a:latin typeface="DM Sans"/>
                <a:ea typeface="DM Sans"/>
                <a:cs typeface="DM Sans"/>
              </a:defRPr>
            </a:pPr>
            <a:r>
              <a:rPr sz="1800">
                <a:solidFill>
                  <a:srgbClr val="252638"/>
                </a:solidFill>
                <a:latin typeface="DM Sans"/>
                <a:ea typeface="DM Sans"/>
                <a:cs typeface="DM Sans"/>
              </a:rPr>
              <a:t>Canvas basket beside the machine.</a:t>
            </a:r>
          </a:p>
        </p:txBody>
      </p:sp>
      <p:sp>
        <p:nvSpPr>
          <p:cNvPr id="15" name="">
            <a:extLst xmlns:a="http://schemas.openxmlformats.org/drawingml/2006/main">
              <a:ext uri="{FF2B5EF4-FFF2-40B4-BE49-F238E27FC236}">
                <a16:creationId xmlns:a16="http://schemas.microsoft.com/office/drawing/2014/main" id="{6868F07D-215A-4800-9C06-A3DDDD62CB7F}"/>
              </a:ext>
            </a:extLst>
          </p:cNvPr>
          <p:cNvSpPr>
            <a:spLocks xmlns:a="http://schemas.openxmlformats.org/drawingml/2006/main" noGrp="1"/>
          </p:cNvSpPr>
          <p:nvPr/>
        </p:nvSpPr>
        <p:spPr>
          <a:xfrm xmlns:a="http://schemas.openxmlformats.org/drawingml/2006/main">
            <a:off x="6162675" y="59436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a:solidFill>
                  <a:srgbClr val="696978"/>
                </a:solidFill>
                <a:latin typeface="DM Sans"/>
                <a:ea typeface="DM Sans"/>
                <a:cs typeface="DM Sans"/>
              </a:defRPr>
            </a:pPr>
            <a:r>
              <a:rPr sz="1200">
                <a:solidFill>
                  <a:srgbClr val="696978"/>
                </a:solidFill>
                <a:latin typeface="DM Sans"/>
                <a:ea typeface="DM Sans"/>
                <a:cs typeface="DM Sans"/>
              </a:rPr>
              <a:t>Illustrative resume card</a:t>
            </a:r>
          </a:p>
        </p:txBody>
      </p:sp>
    </p:spTree>
    <p:extLst>
      <p:ext uri="{BB962C8B-B14F-4D97-AF65-F5344CB8AC3E}">
        <p14:creationId xmlns:p14="http://schemas.microsoft.com/office/powerpoint/2010/main" val="1000687011"/>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AEAFA77-90F6-41F4-90C0-42E5D78DD572}"/>
              </a:ext>
            </a:extLst>
          </p:cNvPr>
          <p:cNvSpPr>
            <a:spLocks xmlns:a="http://schemas.openxmlformats.org/drawingml/2006/main" noGrp="1"/>
          </p:cNvSpPr>
          <p:nvPr/>
        </p:nvSpPr>
        <p:spPr>
          <a:xfrm xmlns:a="http://schemas.openxmlformats.org/drawingml/2006/main">
            <a:off x="628650" y="3524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5753A3"/>
                </a:solidFill>
                <a:latin typeface="DM Sans"/>
                <a:ea typeface="DM Sans"/>
                <a:cs typeface="DM Sans"/>
              </a:defRPr>
            </a:pPr>
            <a:r>
              <a:rPr sz="1275" b="1">
                <a:solidFill>
                  <a:srgbClr val="5753A3"/>
                </a:solidFill>
                <a:latin typeface="DM Sans"/>
                <a:ea typeface="DM Sans"/>
                <a:cs typeface="DM Sans"/>
              </a:rPr>
              <a:t>UNPAUSE</a:t>
            </a:r>
          </a:p>
        </p:txBody>
      </p:sp>
      <p:sp>
        <p:nvSpPr>
          <p:cNvPr id="2" name="">
            <a:extLst xmlns:a="http://schemas.openxmlformats.org/drawingml/2006/main">
              <a:ext uri="{FF2B5EF4-FFF2-40B4-BE49-F238E27FC236}">
                <a16:creationId xmlns:a16="http://schemas.microsoft.com/office/drawing/2014/main" id="{E3B1F275-5F3D-4672-93B9-C1A95220AF42}"/>
              </a:ext>
            </a:extLst>
          </p:cNvPr>
          <p:cNvSpPr>
            <a:spLocks xmlns:a="http://schemas.openxmlformats.org/drawingml/2006/main" noGrp="1"/>
          </p:cNvSpPr>
          <p:nvPr/>
        </p:nvSpPr>
        <p:spPr>
          <a:xfrm xmlns:a="http://schemas.openxmlformats.org/drawingml/2006/main">
            <a:off x="11049000" y="62674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a:solidFill>
                  <a:srgbClr val="696978"/>
                </a:solidFill>
                <a:latin typeface="DM Sans"/>
                <a:ea typeface="DM Sans"/>
                <a:cs typeface="DM Sans"/>
              </a:defRPr>
            </a:pPr>
            <a:r>
              <a:rPr sz="1125">
                <a:solidFill>
                  <a:srgbClr val="696978"/>
                </a:solidFill>
                <a:latin typeface="DM Sans"/>
                <a:ea typeface="DM Sans"/>
                <a:cs typeface="DM Sans"/>
              </a:rPr>
              <a:t>04</a:t>
            </a:r>
          </a:p>
        </p:txBody>
      </p:sp>
      <p:sp>
        <p:nvSpPr>
          <p:cNvPr id="3" name="">
            <a:extLst xmlns:a="http://schemas.openxmlformats.org/drawingml/2006/main">
              <a:ext uri="{FF2B5EF4-FFF2-40B4-BE49-F238E27FC236}">
                <a16:creationId xmlns:a16="http://schemas.microsoft.com/office/drawing/2014/main" id="{295DA63F-3CC9-4B10-B0C1-8B1444BDE7C8}"/>
              </a:ext>
            </a:extLst>
          </p:cNvPr>
          <p:cNvSpPr>
            <a:spLocks xmlns:a="http://schemas.openxmlformats.org/drawingml/2006/main" noGrp="1"/>
          </p:cNvSpPr>
          <p:nvPr/>
        </p:nvSpPr>
        <p:spPr>
          <a:xfrm xmlns:a="http://schemas.openxmlformats.org/drawingml/2006/main">
            <a:off x="628650" y="9810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a:solidFill>
                  <a:srgbClr val="252638"/>
                </a:solidFill>
                <a:latin typeface="Georgia"/>
                <a:ea typeface="Georgia"/>
                <a:cs typeface="Georgia"/>
              </a:defRPr>
            </a:pPr>
            <a:r>
              <a:rPr sz="4050">
                <a:solidFill>
                  <a:srgbClr val="252638"/>
                </a:solidFill>
                <a:latin typeface="Georgia"/>
                <a:ea typeface="Georgia"/>
                <a:cs typeface="Georgia"/>
              </a:rPr>
              <a:t>A ten-minute return</a:t>
            </a:r>
          </a:p>
        </p:txBody>
      </p:sp>
      <p:sp>
        <p:nvSpPr>
          <p:cNvPr id="4" name="">
            <a:extLst xmlns:a="http://schemas.openxmlformats.org/drawingml/2006/main">
              <a:ext uri="{FF2B5EF4-FFF2-40B4-BE49-F238E27FC236}">
                <a16:creationId xmlns:a16="http://schemas.microsoft.com/office/drawing/2014/main" id="{0C4B4C2F-4D43-4024-AAA1-121DD916E3B4}"/>
              </a:ext>
            </a:extLst>
          </p:cNvPr>
          <p:cNvSpPr>
            <a:spLocks xmlns:a="http://schemas.openxmlformats.org/drawingml/2006/main" noGrp="1"/>
          </p:cNvSpPr>
          <p:nvPr/>
        </p:nvSpPr>
        <p:spPr>
          <a:xfrm xmlns:a="http://schemas.openxmlformats.org/drawingml/2006/main">
            <a:off x="647700" y="215265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a:solidFill>
                  <a:srgbClr val="696978"/>
                </a:solidFill>
                <a:latin typeface="DM Sans"/>
                <a:ea typeface="DM Sans"/>
                <a:cs typeface="DM Sans"/>
              </a:defRPr>
            </a:pPr>
            <a:r>
              <a:rPr sz="1950">
                <a:solidFill>
                  <a:srgbClr val="696978"/>
                </a:solidFill>
                <a:latin typeface="DM Sans"/>
                <a:ea typeface="DM Sans"/>
                <a:cs typeface="DM Sans"/>
              </a:rPr>
              <a:t>The complete loop is the product.</a:t>
            </a:r>
          </a:p>
        </p:txBody>
      </p:sp>
      <p:sp>
        <p:nvSpPr>
          <p:cNvPr id="5" name="">
            <a:extLst xmlns:a="http://schemas.openxmlformats.org/drawingml/2006/main">
              <a:ext uri="{FF2B5EF4-FFF2-40B4-BE49-F238E27FC236}">
                <a16:creationId xmlns:a16="http://schemas.microsoft.com/office/drawing/2014/main" id="{3B4A118C-B9E2-4A98-8FBC-77296709D1AF}"/>
              </a:ext>
            </a:extLst>
          </p:cNvPr>
          <p:cNvSpPr>
            <a:spLocks xmlns:a="http://schemas.openxmlformats.org/drawingml/2006/main" noGrp="1"/>
          </p:cNvSpPr>
          <p:nvPr/>
        </p:nvSpPr>
        <p:spPr>
          <a:xfrm xmlns:a="http://schemas.openxmlformats.org/drawingml/2006/main">
            <a:off x="666750" y="3105150"/>
            <a:ext cx="200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425">
                <a:solidFill>
                  <a:srgbClr val="5753A3"/>
                </a:solidFill>
                <a:latin typeface="Georgia"/>
                <a:ea typeface="Georgia"/>
                <a:cs typeface="Georgia"/>
              </a:defRPr>
            </a:pPr>
            <a:r>
              <a:rPr sz="4425">
                <a:solidFill>
                  <a:srgbClr val="5753A3"/>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3315B8CA-D887-4396-B606-8F0C3F835612}"/>
              </a:ext>
            </a:extLst>
          </p:cNvPr>
          <p:cNvSpPr>
            <a:spLocks xmlns:a="http://schemas.openxmlformats.org/drawingml/2006/main" noGrp="1"/>
          </p:cNvSpPr>
          <p:nvPr/>
        </p:nvSpPr>
        <p:spPr>
          <a:xfrm xmlns:a="http://schemas.openxmlformats.org/drawingml/2006/main">
            <a:off x="666750" y="4048125"/>
            <a:ext cx="2476500" cy="19050"/>
          </a:xfrm>
          <a:prstGeom xmlns:a="http://schemas.openxmlformats.org/drawingml/2006/main" prst="rect">
            <a:avLst/>
          </a:prstGeom>
          <a:solidFill xmlns:a="http://schemas.openxmlformats.org/drawingml/2006/main">
            <a:srgbClr val="D8D6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35D116-5456-425F-97E8-635E5A0AC3EF}"/>
              </a:ext>
            </a:extLst>
          </p:cNvPr>
          <p:cNvSpPr>
            <a:spLocks xmlns:a="http://schemas.openxmlformats.org/drawingml/2006/main" noGrp="1"/>
          </p:cNvSpPr>
          <p:nvPr/>
        </p:nvSpPr>
        <p:spPr>
          <a:xfrm xmlns:a="http://schemas.openxmlformats.org/drawingml/2006/main">
            <a:off x="666750" y="4305300"/>
            <a:ext cx="2609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252638"/>
                </a:solidFill>
                <a:latin typeface="DM Sans"/>
                <a:ea typeface="DM Sans"/>
                <a:cs typeface="DM Sans"/>
              </a:defRPr>
            </a:pPr>
            <a:r>
              <a:rPr sz="2025" b="1">
                <a:solidFill>
                  <a:srgbClr val="252638"/>
                </a:solidFill>
                <a:latin typeface="DM Sans"/>
                <a:ea typeface="DM Sans"/>
                <a:cs typeface="DM Sans"/>
              </a:rPr>
              <a:t>Choose your window</a:t>
            </a:r>
          </a:p>
        </p:txBody>
      </p:sp>
      <p:sp>
        <p:nvSpPr>
          <p:cNvPr id="8" name="">
            <a:extLst xmlns:a="http://schemas.openxmlformats.org/drawingml/2006/main">
              <a:ext uri="{FF2B5EF4-FFF2-40B4-BE49-F238E27FC236}">
                <a16:creationId xmlns:a16="http://schemas.microsoft.com/office/drawing/2014/main" id="{8B563A3B-41F0-4F12-8B05-40AC97855B42}"/>
              </a:ext>
            </a:extLst>
          </p:cNvPr>
          <p:cNvSpPr>
            <a:spLocks xmlns:a="http://schemas.openxmlformats.org/drawingml/2006/main" noGrp="1"/>
          </p:cNvSpPr>
          <p:nvPr/>
        </p:nvSpPr>
        <p:spPr>
          <a:xfrm xmlns:a="http://schemas.openxmlformats.org/drawingml/2006/main">
            <a:off x="666750" y="5143500"/>
            <a:ext cx="2609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696978"/>
                </a:solidFill>
                <a:latin typeface="DM Sans"/>
                <a:ea typeface="DM Sans"/>
                <a:cs typeface="DM Sans"/>
              </a:defRPr>
            </a:pPr>
            <a:r>
              <a:rPr sz="1650">
                <a:solidFill>
                  <a:srgbClr val="696978"/>
                </a:solidFill>
                <a:latin typeface="DM Sans"/>
                <a:ea typeface="DM Sans"/>
                <a:cs typeface="DM Sans"/>
              </a:rPr>
              <a:t>10, 25, or 45 minutes.</a:t>
            </a:r>
          </a:p>
          <a:p xmlns:a="http://schemas.openxmlformats.org/drawingml/2006/main">
            <a:pPr>
              <a:defRPr sz="1650">
                <a:solidFill>
                  <a:srgbClr val="696978"/>
                </a:solidFill>
                <a:latin typeface="DM Sans"/>
                <a:ea typeface="DM Sans"/>
                <a:cs typeface="DM Sans"/>
              </a:defRPr>
            </a:pPr>
            <a:r>
              <a:rPr sz="1650">
                <a:solidFill>
                  <a:srgbClr val="696978"/>
                </a:solidFill>
                <a:latin typeface="DM Sans"/>
                <a:ea typeface="DM Sans"/>
                <a:cs typeface="DM Sans"/>
              </a:rPr>
              <a:t>Pick your energy.</a:t>
            </a:r>
          </a:p>
        </p:txBody>
      </p:sp>
      <p:sp>
        <p:nvSpPr>
          <p:cNvPr id="9" name="">
            <a:extLst xmlns:a="http://schemas.openxmlformats.org/drawingml/2006/main">
              <a:ext uri="{FF2B5EF4-FFF2-40B4-BE49-F238E27FC236}">
                <a16:creationId xmlns:a16="http://schemas.microsoft.com/office/drawing/2014/main" id="{C533F80C-1E76-4457-A687-F701DE84F847}"/>
              </a:ext>
            </a:extLst>
          </p:cNvPr>
          <p:cNvSpPr>
            <a:spLocks xmlns:a="http://schemas.openxmlformats.org/drawingml/2006/main" noGrp="1"/>
          </p:cNvSpPr>
          <p:nvPr/>
        </p:nvSpPr>
        <p:spPr>
          <a:xfrm xmlns:a="http://schemas.openxmlformats.org/drawingml/2006/main">
            <a:off x="3562350" y="3105150"/>
            <a:ext cx="200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425">
                <a:solidFill>
                  <a:srgbClr val="5753A3"/>
                </a:solidFill>
                <a:latin typeface="Georgia"/>
                <a:ea typeface="Georgia"/>
                <a:cs typeface="Georgia"/>
              </a:defRPr>
            </a:pPr>
            <a:r>
              <a:rPr sz="4425">
                <a:solidFill>
                  <a:srgbClr val="5753A3"/>
                </a:solidFill>
                <a:latin typeface="Georgia"/>
                <a:ea typeface="Georgia"/>
                <a:cs typeface="Georgia"/>
              </a:rPr>
              <a:t>02</a:t>
            </a:r>
          </a:p>
        </p:txBody>
      </p:sp>
      <p:sp>
        <p:nvSpPr>
          <p:cNvPr id="10" name="">
            <a:extLst xmlns:a="http://schemas.openxmlformats.org/drawingml/2006/main">
              <a:ext uri="{FF2B5EF4-FFF2-40B4-BE49-F238E27FC236}">
                <a16:creationId xmlns:a16="http://schemas.microsoft.com/office/drawing/2014/main" id="{F955FC33-95F0-447B-BDA7-4AB4FB0A06EF}"/>
              </a:ext>
            </a:extLst>
          </p:cNvPr>
          <p:cNvSpPr>
            <a:spLocks xmlns:a="http://schemas.openxmlformats.org/drawingml/2006/main" noGrp="1"/>
          </p:cNvSpPr>
          <p:nvPr/>
        </p:nvSpPr>
        <p:spPr>
          <a:xfrm xmlns:a="http://schemas.openxmlformats.org/drawingml/2006/main">
            <a:off x="3562350" y="4048125"/>
            <a:ext cx="2476500" cy="19050"/>
          </a:xfrm>
          <a:prstGeom xmlns:a="http://schemas.openxmlformats.org/drawingml/2006/main" prst="rect">
            <a:avLst/>
          </a:prstGeom>
          <a:solidFill xmlns:a="http://schemas.openxmlformats.org/drawingml/2006/main">
            <a:srgbClr val="D8D6D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65A77B2-0556-4EDD-8102-66ED0D39D50D}"/>
              </a:ext>
            </a:extLst>
          </p:cNvPr>
          <p:cNvSpPr>
            <a:spLocks xmlns:a="http://schemas.openxmlformats.org/drawingml/2006/main" noGrp="1"/>
          </p:cNvSpPr>
          <p:nvPr/>
        </p:nvSpPr>
        <p:spPr>
          <a:xfrm xmlns:a="http://schemas.openxmlformats.org/drawingml/2006/main">
            <a:off x="3562350" y="4305300"/>
            <a:ext cx="2609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252638"/>
                </a:solidFill>
                <a:latin typeface="DM Sans"/>
                <a:ea typeface="DM Sans"/>
                <a:cs typeface="DM Sans"/>
              </a:defRPr>
            </a:pPr>
            <a:r>
              <a:rPr sz="2025" b="1">
                <a:solidFill>
                  <a:srgbClr val="252638"/>
                </a:solidFill>
                <a:latin typeface="DM Sans"/>
                <a:ea typeface="DM Sans"/>
                <a:cs typeface="DM Sans"/>
              </a:rPr>
              <a:t>Read your handoff</a:t>
            </a:r>
          </a:p>
        </p:txBody>
      </p:sp>
      <p:sp>
        <p:nvSpPr>
          <p:cNvPr id="12" name="">
            <a:extLst xmlns:a="http://schemas.openxmlformats.org/drawingml/2006/main">
              <a:ext uri="{FF2B5EF4-FFF2-40B4-BE49-F238E27FC236}">
                <a16:creationId xmlns:a16="http://schemas.microsoft.com/office/drawing/2014/main" id="{14E78BD8-5443-4E80-A8B7-8CB7F1D76E4B}"/>
              </a:ext>
            </a:extLst>
          </p:cNvPr>
          <p:cNvSpPr>
            <a:spLocks xmlns:a="http://schemas.openxmlformats.org/drawingml/2006/main" noGrp="1"/>
          </p:cNvSpPr>
          <p:nvPr/>
        </p:nvSpPr>
        <p:spPr>
          <a:xfrm xmlns:a="http://schemas.openxmlformats.org/drawingml/2006/main">
            <a:off x="3562350" y="5143500"/>
            <a:ext cx="2609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696978"/>
                </a:solidFill>
                <a:latin typeface="DM Sans"/>
                <a:ea typeface="DM Sans"/>
                <a:cs typeface="DM Sans"/>
              </a:defRPr>
            </a:pPr>
            <a:r>
              <a:rPr sz="1650">
                <a:solidFill>
                  <a:srgbClr val="696978"/>
                </a:solidFill>
                <a:latin typeface="DM Sans"/>
                <a:ea typeface="DM Sans"/>
                <a:cs typeface="DM Sans"/>
              </a:rPr>
              <a:t>The next action and</a:t>
            </a:r>
          </a:p>
          <a:p xmlns:a="http://schemas.openxmlformats.org/drawingml/2006/main">
            <a:pPr>
              <a:defRPr sz="1650">
                <a:solidFill>
                  <a:srgbClr val="696978"/>
                </a:solidFill>
                <a:latin typeface="DM Sans"/>
                <a:ea typeface="DM Sans"/>
                <a:cs typeface="DM Sans"/>
              </a:defRPr>
            </a:pPr>
            <a:r>
              <a:rPr sz="1650">
                <a:solidFill>
                  <a:srgbClr val="696978"/>
                </a:solidFill>
                <a:latin typeface="DM Sans"/>
                <a:ea typeface="DM Sans"/>
                <a:cs typeface="DM Sans"/>
              </a:rPr>
              <a:t>materials are together.</a:t>
            </a:r>
          </a:p>
        </p:txBody>
      </p:sp>
      <p:sp>
        <p:nvSpPr>
          <p:cNvPr id="13" name="">
            <a:extLst xmlns:a="http://schemas.openxmlformats.org/drawingml/2006/main">
              <a:ext uri="{FF2B5EF4-FFF2-40B4-BE49-F238E27FC236}">
                <a16:creationId xmlns:a16="http://schemas.microsoft.com/office/drawing/2014/main" id="{AA755F7B-E926-4F3F-A590-0ABA49F89944}"/>
              </a:ext>
            </a:extLst>
          </p:cNvPr>
          <p:cNvSpPr>
            <a:spLocks xmlns:a="http://schemas.openxmlformats.org/drawingml/2006/main" noGrp="1"/>
          </p:cNvSpPr>
          <p:nvPr/>
        </p:nvSpPr>
        <p:spPr>
          <a:xfrm xmlns:a="http://schemas.openxmlformats.org/drawingml/2006/main">
            <a:off x="6457950" y="3105150"/>
            <a:ext cx="200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425">
                <a:solidFill>
                  <a:srgbClr val="5753A3"/>
                </a:solidFill>
                <a:latin typeface="Georgia"/>
                <a:ea typeface="Georgia"/>
                <a:cs typeface="Georgia"/>
              </a:defRPr>
            </a:pPr>
            <a:r>
              <a:rPr sz="4425">
                <a:solidFill>
                  <a:srgbClr val="5753A3"/>
                </a:solidFill>
                <a:latin typeface="Georgia"/>
                <a:ea typeface="Georgia"/>
                <a:cs typeface="Georgia"/>
              </a:rPr>
              <a:t>03</a:t>
            </a:r>
          </a:p>
        </p:txBody>
      </p:sp>
      <p:sp>
        <p:nvSpPr>
          <p:cNvPr id="14" name="">
            <a:extLst xmlns:a="http://schemas.openxmlformats.org/drawingml/2006/main">
              <a:ext uri="{FF2B5EF4-FFF2-40B4-BE49-F238E27FC236}">
                <a16:creationId xmlns:a16="http://schemas.microsoft.com/office/drawing/2014/main" id="{E565138D-96B8-4AA5-AF97-D3B714B4D7F4}"/>
              </a:ext>
            </a:extLst>
          </p:cNvPr>
          <p:cNvSpPr>
            <a:spLocks xmlns:a="http://schemas.openxmlformats.org/drawingml/2006/main" noGrp="1"/>
          </p:cNvSpPr>
          <p:nvPr/>
        </p:nvSpPr>
        <p:spPr>
          <a:xfrm xmlns:a="http://schemas.openxmlformats.org/drawingml/2006/main">
            <a:off x="6457950" y="4048125"/>
            <a:ext cx="2476500" cy="19050"/>
          </a:xfrm>
          <a:prstGeom xmlns:a="http://schemas.openxmlformats.org/drawingml/2006/main" prst="rect">
            <a:avLst/>
          </a:prstGeom>
          <a:solidFill xmlns:a="http://schemas.openxmlformats.org/drawingml/2006/main">
            <a:srgbClr val="D8D6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4398AE9-9698-46D8-AF7B-A5F7657A0C35}"/>
              </a:ext>
            </a:extLst>
          </p:cNvPr>
          <p:cNvSpPr>
            <a:spLocks xmlns:a="http://schemas.openxmlformats.org/drawingml/2006/main" noGrp="1"/>
          </p:cNvSpPr>
          <p:nvPr/>
        </p:nvSpPr>
        <p:spPr>
          <a:xfrm xmlns:a="http://schemas.openxmlformats.org/drawingml/2006/main">
            <a:off x="6457950" y="4305300"/>
            <a:ext cx="2609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252638"/>
                </a:solidFill>
                <a:latin typeface="DM Sans"/>
                <a:ea typeface="DM Sans"/>
                <a:cs typeface="DM Sans"/>
              </a:defRPr>
            </a:pPr>
            <a:r>
              <a:rPr sz="2025" b="1">
                <a:solidFill>
                  <a:srgbClr val="252638"/>
                </a:solidFill>
                <a:latin typeface="DM Sans"/>
                <a:ea typeface="DM Sans"/>
                <a:cs typeface="DM Sans"/>
              </a:rPr>
              <a:t>Make a little</a:t>
            </a:r>
          </a:p>
        </p:txBody>
      </p:sp>
      <p:sp>
        <p:nvSpPr>
          <p:cNvPr id="16" name="">
            <a:extLst xmlns:a="http://schemas.openxmlformats.org/drawingml/2006/main">
              <a:ext uri="{FF2B5EF4-FFF2-40B4-BE49-F238E27FC236}">
                <a16:creationId xmlns:a16="http://schemas.microsoft.com/office/drawing/2014/main" id="{B5C6EFDE-E583-4BF2-B135-D086D37FED88}"/>
              </a:ext>
            </a:extLst>
          </p:cNvPr>
          <p:cNvSpPr>
            <a:spLocks xmlns:a="http://schemas.openxmlformats.org/drawingml/2006/main" noGrp="1"/>
          </p:cNvSpPr>
          <p:nvPr/>
        </p:nvSpPr>
        <p:spPr>
          <a:xfrm xmlns:a="http://schemas.openxmlformats.org/drawingml/2006/main">
            <a:off x="6457950" y="5143500"/>
            <a:ext cx="2609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696978"/>
                </a:solidFill>
                <a:latin typeface="DM Sans"/>
                <a:ea typeface="DM Sans"/>
                <a:cs typeface="DM Sans"/>
              </a:defRPr>
            </a:pPr>
            <a:r>
              <a:rPr sz="1650">
                <a:solidFill>
                  <a:srgbClr val="696978"/>
                </a:solidFill>
                <a:latin typeface="DM Sans"/>
                <a:ea typeface="DM Sans"/>
                <a:cs typeface="DM Sans"/>
              </a:rPr>
              <a:t>Start a quiet session.</a:t>
            </a:r>
          </a:p>
          <a:p xmlns:a="http://schemas.openxmlformats.org/drawingml/2006/main">
            <a:pPr>
              <a:defRPr sz="1650">
                <a:solidFill>
                  <a:srgbClr val="696978"/>
                </a:solidFill>
                <a:latin typeface="DM Sans"/>
                <a:ea typeface="DM Sans"/>
                <a:cs typeface="DM Sans"/>
              </a:defRPr>
            </a:pPr>
            <a:r>
              <a:rPr sz="1650">
                <a:solidFill>
                  <a:srgbClr val="696978"/>
                </a:solidFill>
                <a:latin typeface="DM Sans"/>
                <a:ea typeface="DM Sans"/>
                <a:cs typeface="DM Sans"/>
              </a:rPr>
              <a:t>Stop when you need to.</a:t>
            </a:r>
          </a:p>
        </p:txBody>
      </p:sp>
      <p:sp>
        <p:nvSpPr>
          <p:cNvPr id="17" name="">
            <a:extLst xmlns:a="http://schemas.openxmlformats.org/drawingml/2006/main">
              <a:ext uri="{FF2B5EF4-FFF2-40B4-BE49-F238E27FC236}">
                <a16:creationId xmlns:a16="http://schemas.microsoft.com/office/drawing/2014/main" id="{1C7FAC75-92FA-476C-85DD-8ECBB6586BCD}"/>
              </a:ext>
            </a:extLst>
          </p:cNvPr>
          <p:cNvSpPr>
            <a:spLocks xmlns:a="http://schemas.openxmlformats.org/drawingml/2006/main" noGrp="1"/>
          </p:cNvSpPr>
          <p:nvPr/>
        </p:nvSpPr>
        <p:spPr>
          <a:xfrm xmlns:a="http://schemas.openxmlformats.org/drawingml/2006/main">
            <a:off x="9353550" y="3105150"/>
            <a:ext cx="2000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425">
                <a:solidFill>
                  <a:srgbClr val="5753A3"/>
                </a:solidFill>
                <a:latin typeface="Georgia"/>
                <a:ea typeface="Georgia"/>
                <a:cs typeface="Georgia"/>
              </a:defRPr>
            </a:pPr>
            <a:r>
              <a:rPr sz="4425">
                <a:solidFill>
                  <a:srgbClr val="5753A3"/>
                </a:solidFill>
                <a:latin typeface="Georgia"/>
                <a:ea typeface="Georgia"/>
                <a:cs typeface="Georgia"/>
              </a:rPr>
              <a:t>04</a:t>
            </a:r>
          </a:p>
        </p:txBody>
      </p:sp>
      <p:sp>
        <p:nvSpPr>
          <p:cNvPr id="18" name="">
            <a:extLst xmlns:a="http://schemas.openxmlformats.org/drawingml/2006/main">
              <a:ext uri="{FF2B5EF4-FFF2-40B4-BE49-F238E27FC236}">
                <a16:creationId xmlns:a16="http://schemas.microsoft.com/office/drawing/2014/main" id="{5FFFC64B-FAE1-4588-87D9-95CBE6F7C65F}"/>
              </a:ext>
            </a:extLst>
          </p:cNvPr>
          <p:cNvSpPr>
            <a:spLocks xmlns:a="http://schemas.openxmlformats.org/drawingml/2006/main" noGrp="1"/>
          </p:cNvSpPr>
          <p:nvPr/>
        </p:nvSpPr>
        <p:spPr>
          <a:xfrm xmlns:a="http://schemas.openxmlformats.org/drawingml/2006/main">
            <a:off x="9353550" y="4048125"/>
            <a:ext cx="2476500" cy="19050"/>
          </a:xfrm>
          <a:prstGeom xmlns:a="http://schemas.openxmlformats.org/drawingml/2006/main" prst="rect">
            <a:avLst/>
          </a:prstGeom>
          <a:solidFill xmlns:a="http://schemas.openxmlformats.org/drawingml/2006/main">
            <a:srgbClr val="D8D6D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48009E9-C69F-4A51-AE7F-E6A7464DC1AB}"/>
              </a:ext>
            </a:extLst>
          </p:cNvPr>
          <p:cNvSpPr>
            <a:spLocks xmlns:a="http://schemas.openxmlformats.org/drawingml/2006/main" noGrp="1"/>
          </p:cNvSpPr>
          <p:nvPr/>
        </p:nvSpPr>
        <p:spPr>
          <a:xfrm xmlns:a="http://schemas.openxmlformats.org/drawingml/2006/main">
            <a:off x="9353550" y="4305300"/>
            <a:ext cx="2609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252638"/>
                </a:solidFill>
                <a:latin typeface="DM Sans"/>
                <a:ea typeface="DM Sans"/>
                <a:cs typeface="DM Sans"/>
              </a:defRPr>
            </a:pPr>
            <a:r>
              <a:rPr sz="2025" b="1">
                <a:solidFill>
                  <a:srgbClr val="252638"/>
                </a:solidFill>
                <a:latin typeface="DM Sans"/>
                <a:ea typeface="DM Sans"/>
                <a:cs typeface="DM Sans"/>
              </a:rPr>
              <a:t>Leave a way back</a:t>
            </a:r>
          </a:p>
        </p:txBody>
      </p:sp>
      <p:sp>
        <p:nvSpPr>
          <p:cNvPr id="20" name="">
            <a:extLst xmlns:a="http://schemas.openxmlformats.org/drawingml/2006/main">
              <a:ext uri="{FF2B5EF4-FFF2-40B4-BE49-F238E27FC236}">
                <a16:creationId xmlns:a16="http://schemas.microsoft.com/office/drawing/2014/main" id="{B6262B3C-1C12-44F4-93C1-2ACCFF3341BE}"/>
              </a:ext>
            </a:extLst>
          </p:cNvPr>
          <p:cNvSpPr>
            <a:spLocks xmlns:a="http://schemas.openxmlformats.org/drawingml/2006/main" noGrp="1"/>
          </p:cNvSpPr>
          <p:nvPr/>
        </p:nvSpPr>
        <p:spPr>
          <a:xfrm xmlns:a="http://schemas.openxmlformats.org/drawingml/2006/main">
            <a:off x="9353550" y="5143500"/>
            <a:ext cx="2609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a:solidFill>
                  <a:srgbClr val="696978"/>
                </a:solidFill>
                <a:latin typeface="DM Sans"/>
                <a:ea typeface="DM Sans"/>
                <a:cs typeface="DM Sans"/>
              </a:defRPr>
            </a:pPr>
            <a:r>
              <a:rPr sz="1650">
                <a:solidFill>
                  <a:srgbClr val="696978"/>
                </a:solidFill>
                <a:latin typeface="DM Sans"/>
                <a:ea typeface="DM Sans"/>
                <a:cs typeface="DM Sans"/>
              </a:rPr>
              <a:t>Save a new checkpoint</a:t>
            </a:r>
          </a:p>
          <a:p xmlns:a="http://schemas.openxmlformats.org/drawingml/2006/main">
            <a:pPr>
              <a:defRPr sz="1650">
                <a:solidFill>
                  <a:srgbClr val="696978"/>
                </a:solidFill>
                <a:latin typeface="DM Sans"/>
                <a:ea typeface="DM Sans"/>
                <a:cs typeface="DM Sans"/>
              </a:defRPr>
            </a:pPr>
            <a:r>
              <a:rPr sz="1650">
                <a:solidFill>
                  <a:srgbClr val="696978"/>
                </a:solidFill>
                <a:latin typeface="DM Sans"/>
                <a:ea typeface="DM Sans"/>
                <a:cs typeface="DM Sans"/>
              </a:rPr>
              <a:t>or finish the project.</a:t>
            </a:r>
          </a:p>
        </p:txBody>
      </p:sp>
    </p:spTree>
    <p:extLst>
      <p:ext uri="{BB962C8B-B14F-4D97-AF65-F5344CB8AC3E}">
        <p14:creationId xmlns:p14="http://schemas.microsoft.com/office/powerpoint/2010/main" val="595951615"/>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5DCD69-9D4E-4620-BA79-8F1A5B9563E4}"/>
              </a:ext>
            </a:extLst>
          </p:cNvPr>
          <p:cNvSpPr>
            <a:spLocks xmlns:a="http://schemas.openxmlformats.org/drawingml/2006/main" noGrp="1"/>
          </p:cNvSpPr>
          <p:nvPr/>
        </p:nvSpPr>
        <p:spPr>
          <a:xfrm xmlns:a="http://schemas.openxmlformats.org/drawingml/2006/main">
            <a:off x="628650" y="3524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5753A3"/>
                </a:solidFill>
                <a:latin typeface="DM Sans"/>
                <a:ea typeface="DM Sans"/>
                <a:cs typeface="DM Sans"/>
              </a:defRPr>
            </a:pPr>
            <a:r>
              <a:rPr sz="1275" b="1">
                <a:solidFill>
                  <a:srgbClr val="5753A3"/>
                </a:solidFill>
                <a:latin typeface="DM Sans"/>
                <a:ea typeface="DM Sans"/>
                <a:cs typeface="DM Sans"/>
              </a:rPr>
              <a:t>UNPAUSE</a:t>
            </a:r>
          </a:p>
        </p:txBody>
      </p:sp>
      <p:sp>
        <p:nvSpPr>
          <p:cNvPr id="2" name="">
            <a:extLst xmlns:a="http://schemas.openxmlformats.org/drawingml/2006/main">
              <a:ext uri="{FF2B5EF4-FFF2-40B4-BE49-F238E27FC236}">
                <a16:creationId xmlns:a16="http://schemas.microsoft.com/office/drawing/2014/main" id="{5BBFCEDE-7FBD-4092-89EA-AFDF05B95AE4}"/>
              </a:ext>
            </a:extLst>
          </p:cNvPr>
          <p:cNvSpPr>
            <a:spLocks xmlns:a="http://schemas.openxmlformats.org/drawingml/2006/main" noGrp="1"/>
          </p:cNvSpPr>
          <p:nvPr/>
        </p:nvSpPr>
        <p:spPr>
          <a:xfrm xmlns:a="http://schemas.openxmlformats.org/drawingml/2006/main">
            <a:off x="11049000" y="62674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a:solidFill>
                  <a:srgbClr val="696978"/>
                </a:solidFill>
                <a:latin typeface="DM Sans"/>
                <a:ea typeface="DM Sans"/>
                <a:cs typeface="DM Sans"/>
              </a:defRPr>
            </a:pPr>
            <a:r>
              <a:rPr sz="1125">
                <a:solidFill>
                  <a:srgbClr val="696978"/>
                </a:solidFill>
                <a:latin typeface="DM Sans"/>
                <a:ea typeface="DM Sans"/>
                <a:cs typeface="DM Sans"/>
              </a:rPr>
              <a:t>05</a:t>
            </a:r>
          </a:p>
        </p:txBody>
      </p:sp>
      <p:sp>
        <p:nvSpPr>
          <p:cNvPr id="3" name="">
            <a:extLst xmlns:a="http://schemas.openxmlformats.org/drawingml/2006/main">
              <a:ext uri="{FF2B5EF4-FFF2-40B4-BE49-F238E27FC236}">
                <a16:creationId xmlns:a16="http://schemas.microsoft.com/office/drawing/2014/main" id="{3FDAFA92-3169-4908-9BB0-297B5CA3477A}"/>
              </a:ext>
            </a:extLst>
          </p:cNvPr>
          <p:cNvSpPr>
            <a:spLocks xmlns:a="http://schemas.openxmlformats.org/drawingml/2006/main" noGrp="1"/>
          </p:cNvSpPr>
          <p:nvPr/>
        </p:nvSpPr>
        <p:spPr>
          <a:xfrm xmlns:a="http://schemas.openxmlformats.org/drawingml/2006/main">
            <a:off x="628650" y="9810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a:solidFill>
                  <a:srgbClr val="252638"/>
                </a:solidFill>
                <a:latin typeface="Georgia"/>
                <a:ea typeface="Georgia"/>
                <a:cs typeface="Georgia"/>
              </a:defRPr>
            </a:pPr>
            <a:r>
              <a:rPr sz="4050">
                <a:solidFill>
                  <a:srgbClr val="252638"/>
                </a:solidFill>
                <a:latin typeface="Georgia"/>
                <a:ea typeface="Georgia"/>
                <a:cs typeface="Georgia"/>
              </a:rPr>
              <a:t>A focused place in a real market</a:t>
            </a:r>
          </a:p>
        </p:txBody>
      </p:sp>
      <p:graphicFrame>
        <p:nvGraphicFramePr>
          <p:cNvPr id="9" name=""/>
          <p:cNvGraphicFramePr/>
          <p:nvPr/>
        </p:nvGraphicFramePr>
        <p:xfrm>
          <a:off xmlns:a="http://schemas.openxmlformats.org/drawingml/2006/main" x="666750" y="2257425"/>
          <a:ext xmlns:a="http://schemas.openxmlformats.org/drawingml/2006/main" cx="10839450" cy="2981325"/>
        </p:xfrm>
        <a:graphic xmlns:a="http://schemas.openxmlformats.org/drawingml/2006/main">
          <a:graphicData uri="http://schemas.openxmlformats.org/drawingml/2006/table">
            <a:tbl>
              <a:tblPr/>
              <a:tblGrid>
                <a:gridCol w="3333750"/>
                <a:gridCol w="7505700"/>
              </a:tblGrid>
              <a:tr h="596265">
                <a:tc>
                  <a:txBody>
                    <a:bodyPr/>
                    <a:lstStyle/>
                    <a:p>
                      <a:r>
                        <a:rPr sz="1725" b="1">
                          <a:solidFill>
                            <a:srgbClr val="FFFFFF"/>
                          </a:solidFill>
                          <a:latin typeface="DM Sans"/>
                          <a:ea typeface="DM Sans"/>
                          <a:cs typeface="DM Sans"/>
                        </a:rPr>
                        <a:t>Alternative</a:t>
                      </a:r>
                    </a:p>
                  </a:txBody>
                  <a:tcPr marL="91440" marR="91440" marT="45720" marB="45720">
                    <a:solidFill>
                      <a:srgbClr val="5753A3"/>
                    </a:solidFill>
                  </a:tcPr>
                </a:tc>
                <a:tc>
                  <a:txBody>
                    <a:bodyPr/>
                    <a:lstStyle/>
                    <a:p>
                      <a:r>
                        <a:rPr sz="1725" b="1">
                          <a:solidFill>
                            <a:srgbClr val="FFFFFF"/>
                          </a:solidFill>
                          <a:latin typeface="DM Sans"/>
                          <a:ea typeface="DM Sans"/>
                          <a:cs typeface="DM Sans"/>
                        </a:rPr>
                        <a:t>What it emphasizes</a:t>
                      </a:r>
                    </a:p>
                  </a:txBody>
                  <a:tcPr marL="91440" marR="91440" marT="45720" marB="45720">
                    <a:solidFill>
                      <a:srgbClr val="5753A3"/>
                    </a:solidFill>
                  </a:tcPr>
                </a:tc>
              </a:tr>
              <a:tr h="596265">
                <a:tc>
                  <a:txBody>
                    <a:bodyPr/>
                    <a:lstStyle/>
                    <a:p>
                      <a:r>
                        <a:rPr sz="1875" b="0">
                          <a:solidFill>
                            <a:srgbClr val="252638"/>
                          </a:solidFill>
                          <a:latin typeface="DM Sans"/>
                          <a:ea typeface="DM Sans"/>
                          <a:cs typeface="DM Sans"/>
                        </a:rPr>
                        <a:t>Notes / paper</a:t>
                      </a:r>
                    </a:p>
                  </a:txBody>
                  <a:tcPr marL="91440" marR="91440" marT="45720" marB="45720">
                    <a:solidFill>
                      <a:srgbClr val="F8F7F3"/>
                    </a:solidFill>
                  </a:tcPr>
                </a:tc>
                <a:tc>
                  <a:txBody>
                    <a:bodyPr/>
                    <a:lstStyle/>
                    <a:p>
                      <a:r>
                        <a:rPr sz="1875" b="0">
                          <a:solidFill>
                            <a:srgbClr val="252638"/>
                          </a:solidFill>
                          <a:latin typeface="DM Sans"/>
                          <a:ea typeface="DM Sans"/>
                          <a:cs typeface="DM Sans"/>
                        </a:rPr>
                        <a:t>Flexible capture, organized by the maker</a:t>
                      </a:r>
                    </a:p>
                  </a:txBody>
                  <a:tcPr marL="91440" marR="91440" marT="45720" marB="45720">
                    <a:solidFill>
                      <a:srgbClr val="F8F7F3"/>
                    </a:solidFill>
                  </a:tcPr>
                </a:tc>
              </a:tr>
              <a:tr h="596265">
                <a:tc>
                  <a:txBody>
                    <a:bodyPr/>
                    <a:lstStyle/>
                    <a:p>
                      <a:r>
                        <a:rPr sz="1875" b="0">
                          <a:solidFill>
                            <a:srgbClr val="252638"/>
                          </a:solidFill>
                          <a:latin typeface="DM Sans"/>
                          <a:ea typeface="DM Sans"/>
                          <a:cs typeface="DM Sans"/>
                        </a:rPr>
                        <a:t>Krafio / Purlsy</a:t>
                      </a:r>
                    </a:p>
                  </a:txBody>
                  <a:tcPr marL="91440" marR="91440" marT="45720" marB="45720">
                    <a:solidFill>
                      <a:srgbClr val="F8F7F3"/>
                    </a:solidFill>
                  </a:tcPr>
                </a:tc>
                <a:tc>
                  <a:txBody>
                    <a:bodyPr/>
                    <a:lstStyle/>
                    <a:p>
                      <a:r>
                        <a:rPr sz="1875" b="0">
                          <a:solidFill>
                            <a:srgbClr val="252638"/>
                          </a:solidFill>
                          <a:latin typeface="DM Sans"/>
                          <a:ea typeface="DM Sans"/>
                          <a:cs typeface="DM Sans"/>
                        </a:rPr>
                        <a:t>Craft projects and progress journals</a:t>
                      </a:r>
                    </a:p>
                  </a:txBody>
                  <a:tcPr marL="91440" marR="91440" marT="45720" marB="45720">
                    <a:solidFill>
                      <a:srgbClr val="F8F7F3"/>
                    </a:solidFill>
                  </a:tcPr>
                </a:tc>
              </a:tr>
              <a:tr h="596265">
                <a:tc>
                  <a:txBody>
                    <a:bodyPr/>
                    <a:lstStyle/>
                    <a:p>
                      <a:r>
                        <a:rPr sz="1875" b="0">
                          <a:solidFill>
                            <a:srgbClr val="252638"/>
                          </a:solidFill>
                          <a:latin typeface="DM Sans"/>
                          <a:ea typeface="DM Sans"/>
                          <a:cs typeface="DM Sans"/>
                        </a:rPr>
                        <a:t>Tapcord</a:t>
                      </a:r>
                    </a:p>
                  </a:txBody>
                  <a:tcPr marL="91440" marR="91440" marT="45720" marB="45720">
                    <a:solidFill>
                      <a:srgbClr val="F8F7F3"/>
                    </a:solidFill>
                  </a:tcPr>
                </a:tc>
                <a:tc>
                  <a:txBody>
                    <a:bodyPr/>
                    <a:lstStyle/>
                    <a:p>
                      <a:r>
                        <a:rPr sz="1875" b="0">
                          <a:solidFill>
                            <a:srgbClr val="252638"/>
                          </a:solidFill>
                          <a:latin typeface="DM Sans"/>
                          <a:ea typeface="DM Sans"/>
                          <a:cs typeface="DM Sans"/>
                        </a:rPr>
                        <a:t>Physical tags and a project’s history</a:t>
                      </a:r>
                    </a:p>
                  </a:txBody>
                  <a:tcPr marL="91440" marR="91440" marT="45720" marB="45720">
                    <a:solidFill>
                      <a:srgbClr val="F8F7F3"/>
                    </a:solidFill>
                  </a:tcPr>
                </a:tc>
              </a:tr>
              <a:tr h="596265">
                <a:tc>
                  <a:txBody>
                    <a:bodyPr/>
                    <a:lstStyle/>
                    <a:p>
                      <a:r>
                        <a:rPr sz="1875" b="1">
                          <a:solidFill>
                            <a:srgbClr val="252638"/>
                          </a:solidFill>
                          <a:latin typeface="DM Sans"/>
                          <a:ea typeface="DM Sans"/>
                          <a:cs typeface="DM Sans"/>
                        </a:rPr>
                        <a:t>Unpause</a:t>
                      </a:r>
                    </a:p>
                  </a:txBody>
                  <a:tcPr marL="91440" marR="91440" marT="45720" marB="45720">
                    <a:solidFill>
                      <a:srgbClr val="E8E6F1"/>
                    </a:solidFill>
                  </a:tcPr>
                </a:tc>
                <a:tc>
                  <a:txBody>
                    <a:bodyPr/>
                    <a:lstStyle/>
                    <a:p>
                      <a:r>
                        <a:rPr sz="1875" b="1">
                          <a:solidFill>
                            <a:srgbClr val="252638"/>
                          </a:solidFill>
                          <a:latin typeface="DM Sans"/>
                          <a:ea typeface="DM Sans"/>
                          <a:cs typeface="DM Sans"/>
                        </a:rPr>
                        <a:t>Available time + next-action handoff</a:t>
                      </a:r>
                    </a:p>
                  </a:txBody>
                  <a:tcPr marL="91440" marR="91440" marT="45720" marB="45720">
                    <a:solidFill>
                      <a:srgbClr val="E8E6F1"/>
                    </a:solidFill>
                  </a:tcPr>
                </a:tc>
              </a:tr>
            </a:tbl>
          </a:graphicData>
        </a:graphic>
      </p:graphicFrame>
      <p:sp>
        <p:nvSpPr>
          <p:cNvPr id="5" name="">
            <a:extLst xmlns:a="http://schemas.openxmlformats.org/drawingml/2006/main">
              <a:ext uri="{FF2B5EF4-FFF2-40B4-BE49-F238E27FC236}">
                <a16:creationId xmlns:a16="http://schemas.microsoft.com/office/drawing/2014/main" id="{3C4D4CCA-0F30-4820-858F-6B174A55801B}"/>
              </a:ext>
            </a:extLst>
          </p:cNvPr>
          <p:cNvSpPr>
            <a:spLocks xmlns:a="http://schemas.openxmlformats.org/drawingml/2006/main" noGrp="1"/>
          </p:cNvSpPr>
          <p:nvPr/>
        </p:nvSpPr>
        <p:spPr>
          <a:xfrm xmlns:a="http://schemas.openxmlformats.org/drawingml/2006/main">
            <a:off x="685800" y="5514975"/>
            <a:ext cx="1081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a:solidFill>
                  <a:srgbClr val="696978"/>
                </a:solidFill>
                <a:latin typeface="DM Sans"/>
                <a:ea typeface="DM Sans"/>
                <a:cs typeface="DM Sans"/>
              </a:defRPr>
            </a:pPr>
            <a:r>
              <a:rPr sz="1800">
                <a:solidFill>
                  <a:srgbClr val="696978"/>
                </a:solidFill>
                <a:latin typeface="DM Sans"/>
                <a:ea typeface="DM Sans"/>
                <a:cs typeface="DM Sans"/>
              </a:rPr>
              <a:t>Our bet: an easier return ritual.</a:t>
            </a:r>
          </a:p>
          <a:p xmlns:a="http://schemas.openxmlformats.org/drawingml/2006/main">
            <a:pPr>
              <a:defRPr sz="1800">
                <a:solidFill>
                  <a:srgbClr val="696978"/>
                </a:solidFill>
                <a:latin typeface="DM Sans"/>
                <a:ea typeface="DM Sans"/>
                <a:cs typeface="DM Sans"/>
              </a:defRPr>
            </a:pPr>
            <a:r>
              <a:rPr sz="1800">
                <a:solidFill>
                  <a:srgbClr val="696978"/>
                </a:solidFill>
                <a:latin typeface="DM Sans"/>
                <a:ea typeface="DM Sans"/>
                <a:cs typeface="DM Sans"/>
              </a:rPr>
              <a:t>Next test: real projects, real return visits, compared with Notes.</a:t>
            </a:r>
          </a:p>
        </p:txBody>
      </p:sp>
    </p:spTree>
    <p:extLst>
      <p:ext uri="{BB962C8B-B14F-4D97-AF65-F5344CB8AC3E}">
        <p14:creationId xmlns:p14="http://schemas.microsoft.com/office/powerpoint/2010/main" val="1833516265"/>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4B6B01-0EF7-4AA5-8E68-F191C4E5FB9F}"/>
              </a:ext>
            </a:extLst>
          </p:cNvPr>
          <p:cNvSpPr>
            <a:spLocks xmlns:a="http://schemas.openxmlformats.org/drawingml/2006/main" noGrp="1"/>
          </p:cNvSpPr>
          <p:nvPr/>
        </p:nvSpPr>
        <p:spPr>
          <a:xfrm xmlns:a="http://schemas.openxmlformats.org/drawingml/2006/main">
            <a:off x="628650" y="3524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5753A3"/>
                </a:solidFill>
                <a:latin typeface="DM Sans"/>
                <a:ea typeface="DM Sans"/>
                <a:cs typeface="DM Sans"/>
              </a:defRPr>
            </a:pPr>
            <a:r>
              <a:rPr sz="1275" b="1">
                <a:solidFill>
                  <a:srgbClr val="5753A3"/>
                </a:solidFill>
                <a:latin typeface="DM Sans"/>
                <a:ea typeface="DM Sans"/>
                <a:cs typeface="DM Sans"/>
              </a:rPr>
              <a:t>UNPAUSE</a:t>
            </a:r>
          </a:p>
        </p:txBody>
      </p:sp>
      <p:sp>
        <p:nvSpPr>
          <p:cNvPr id="2" name="">
            <a:extLst xmlns:a="http://schemas.openxmlformats.org/drawingml/2006/main">
              <a:ext uri="{FF2B5EF4-FFF2-40B4-BE49-F238E27FC236}">
                <a16:creationId xmlns:a16="http://schemas.microsoft.com/office/drawing/2014/main" id="{1C57ABBA-0937-49CD-B1DE-D959F87A6F94}"/>
              </a:ext>
            </a:extLst>
          </p:cNvPr>
          <p:cNvSpPr>
            <a:spLocks xmlns:a="http://schemas.openxmlformats.org/drawingml/2006/main" noGrp="1"/>
          </p:cNvSpPr>
          <p:nvPr/>
        </p:nvSpPr>
        <p:spPr>
          <a:xfrm xmlns:a="http://schemas.openxmlformats.org/drawingml/2006/main">
            <a:off x="11049000" y="62674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a:solidFill>
                  <a:srgbClr val="696978"/>
                </a:solidFill>
                <a:latin typeface="DM Sans"/>
                <a:ea typeface="DM Sans"/>
                <a:cs typeface="DM Sans"/>
              </a:defRPr>
            </a:pPr>
            <a:r>
              <a:rPr sz="1125">
                <a:solidFill>
                  <a:srgbClr val="696978"/>
                </a:solidFill>
                <a:latin typeface="DM Sans"/>
                <a:ea typeface="DM Sans"/>
                <a:cs typeface="DM Sans"/>
              </a:rPr>
              <a:t>06</a:t>
            </a:r>
          </a:p>
        </p:txBody>
      </p:sp>
      <p:sp>
        <p:nvSpPr>
          <p:cNvPr id="3" name="">
            <a:extLst xmlns:a="http://schemas.openxmlformats.org/drawingml/2006/main">
              <a:ext uri="{FF2B5EF4-FFF2-40B4-BE49-F238E27FC236}">
                <a16:creationId xmlns:a16="http://schemas.microsoft.com/office/drawing/2014/main" id="{7785C53F-021E-4EE4-8329-B7AA4E605D6A}"/>
              </a:ext>
            </a:extLst>
          </p:cNvPr>
          <p:cNvSpPr>
            <a:spLocks xmlns:a="http://schemas.openxmlformats.org/drawingml/2006/main" noGrp="1"/>
          </p:cNvSpPr>
          <p:nvPr/>
        </p:nvSpPr>
        <p:spPr>
          <a:xfrm xmlns:a="http://schemas.openxmlformats.org/drawingml/2006/main">
            <a:off x="628650" y="9810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a:solidFill>
                  <a:srgbClr val="252638"/>
                </a:solidFill>
                <a:latin typeface="Georgia"/>
                <a:ea typeface="Georgia"/>
                <a:cs typeface="Georgia"/>
              </a:defRPr>
            </a:pPr>
            <a:r>
              <a:rPr sz="4050">
                <a:solidFill>
                  <a:srgbClr val="252638"/>
                </a:solidFill>
                <a:latin typeface="Georgia"/>
                <a:ea typeface="Georgia"/>
                <a:cs typeface="Georgia"/>
              </a:rPr>
              <a:t>A simple paid upgrade</a:t>
            </a:r>
          </a:p>
        </p:txBody>
      </p:sp>
      <p:sp>
        <p:nvSpPr>
          <p:cNvPr id="4" name="">
            <a:extLst xmlns:a="http://schemas.openxmlformats.org/drawingml/2006/main">
              <a:ext uri="{FF2B5EF4-FFF2-40B4-BE49-F238E27FC236}">
                <a16:creationId xmlns:a16="http://schemas.microsoft.com/office/drawing/2014/main" id="{15BC4A3E-13B3-4AB2-876C-D89E80AB1C3A}"/>
              </a:ext>
            </a:extLst>
          </p:cNvPr>
          <p:cNvSpPr>
            <a:spLocks xmlns:a="http://schemas.openxmlformats.org/drawingml/2006/main" noGrp="1"/>
          </p:cNvSpPr>
          <p:nvPr/>
        </p:nvSpPr>
        <p:spPr>
          <a:xfrm xmlns:a="http://schemas.openxmlformats.org/drawingml/2006/main">
            <a:off x="647700" y="215265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a:solidFill>
                  <a:srgbClr val="696978"/>
                </a:solidFill>
                <a:latin typeface="DM Sans"/>
                <a:ea typeface="DM Sans"/>
                <a:cs typeface="DM Sans"/>
              </a:defRPr>
            </a:pPr>
            <a:r>
              <a:rPr sz="1950">
                <a:solidFill>
                  <a:srgbClr val="696978"/>
                </a:solidFill>
                <a:latin typeface="DM Sans"/>
                <a:ea typeface="DM Sans"/>
                <a:cs typeface="DM Sans"/>
              </a:rPr>
              <a:t>Proposed launch pricing. Willingness to pay is still untested.</a:t>
            </a:r>
          </a:p>
        </p:txBody>
      </p:sp>
      <p:sp>
        <p:nvSpPr>
          <p:cNvPr id="5" name="">
            <a:extLst xmlns:a="http://schemas.openxmlformats.org/drawingml/2006/main">
              <a:ext uri="{FF2B5EF4-FFF2-40B4-BE49-F238E27FC236}">
                <a16:creationId xmlns:a16="http://schemas.microsoft.com/office/drawing/2014/main" id="{49ECE3D3-5EE5-4F7A-BA9B-00864EAA9678}"/>
              </a:ext>
            </a:extLst>
          </p:cNvPr>
          <p:cNvSpPr>
            <a:spLocks xmlns:a="http://schemas.openxmlformats.org/drawingml/2006/main" noGrp="1"/>
          </p:cNvSpPr>
          <p:nvPr/>
        </p:nvSpPr>
        <p:spPr>
          <a:xfrm xmlns:a="http://schemas.openxmlformats.org/drawingml/2006/main">
            <a:off x="666750" y="3038475"/>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7425">
                <a:solidFill>
                  <a:srgbClr val="5753A3"/>
                </a:solidFill>
                <a:latin typeface="Georgia"/>
                <a:ea typeface="Georgia"/>
                <a:cs typeface="Georgia"/>
              </a:defRPr>
            </a:pPr>
            <a:r>
              <a:rPr sz="7425">
                <a:solidFill>
                  <a:srgbClr val="5753A3"/>
                </a:solidFill>
                <a:latin typeface="Georgia"/>
                <a:ea typeface="Georgia"/>
                <a:cs typeface="Georgia"/>
              </a:rPr>
              <a:t>3</a:t>
            </a:r>
          </a:p>
        </p:txBody>
      </p:sp>
      <p:sp>
        <p:nvSpPr>
          <p:cNvPr id="6" name="">
            <a:extLst xmlns:a="http://schemas.openxmlformats.org/drawingml/2006/main">
              <a:ext uri="{FF2B5EF4-FFF2-40B4-BE49-F238E27FC236}">
                <a16:creationId xmlns:a16="http://schemas.microsoft.com/office/drawing/2014/main" id="{1FE96AC1-34A9-44C8-90F1-4062502A8281}"/>
              </a:ext>
            </a:extLst>
          </p:cNvPr>
          <p:cNvSpPr>
            <a:spLocks xmlns:a="http://schemas.openxmlformats.org/drawingml/2006/main" noGrp="1"/>
          </p:cNvSpPr>
          <p:nvPr/>
        </p:nvSpPr>
        <p:spPr>
          <a:xfrm xmlns:a="http://schemas.openxmlformats.org/drawingml/2006/main">
            <a:off x="714375" y="4371975"/>
            <a:ext cx="457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a:solidFill>
                  <a:srgbClr val="252638"/>
                </a:solidFill>
                <a:latin typeface="DM Sans"/>
                <a:ea typeface="DM Sans"/>
                <a:cs typeface="DM Sans"/>
              </a:defRPr>
            </a:pPr>
            <a:r>
              <a:rPr sz="2175">
                <a:solidFill>
                  <a:srgbClr val="252638"/>
                </a:solidFill>
                <a:latin typeface="DM Sans"/>
                <a:ea typeface="DM Sans"/>
                <a:cs typeface="DM Sans"/>
              </a:rPr>
              <a:t>unfinished projects free</a:t>
            </a:r>
          </a:p>
        </p:txBody>
      </p:sp>
      <p:sp>
        <p:nvSpPr>
          <p:cNvPr id="7" name="">
            <a:extLst xmlns:a="http://schemas.openxmlformats.org/drawingml/2006/main">
              <a:ext uri="{FF2B5EF4-FFF2-40B4-BE49-F238E27FC236}">
                <a16:creationId xmlns:a16="http://schemas.microsoft.com/office/drawing/2014/main" id="{0C945CC5-C867-4B66-A42E-708089EA0201}"/>
              </a:ext>
            </a:extLst>
          </p:cNvPr>
          <p:cNvSpPr>
            <a:spLocks xmlns:a="http://schemas.openxmlformats.org/drawingml/2006/main" noGrp="1"/>
          </p:cNvSpPr>
          <p:nvPr/>
        </p:nvSpPr>
        <p:spPr>
          <a:xfrm xmlns:a="http://schemas.openxmlformats.org/drawingml/2006/main">
            <a:off x="6324600" y="3038475"/>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7425">
                <a:solidFill>
                  <a:srgbClr val="5753A3"/>
                </a:solidFill>
                <a:latin typeface="Georgia"/>
                <a:ea typeface="Georgia"/>
                <a:cs typeface="Georgia"/>
              </a:defRPr>
            </a:pPr>
            <a:r>
              <a:rPr sz="7425">
                <a:solidFill>
                  <a:srgbClr val="5753A3"/>
                </a:solidFill>
                <a:latin typeface="Georgia"/>
                <a:ea typeface="Georgia"/>
                <a:cs typeface="Georgia"/>
              </a:rPr>
              <a:t>$19.99</a:t>
            </a:r>
          </a:p>
        </p:txBody>
      </p:sp>
      <p:sp>
        <p:nvSpPr>
          <p:cNvPr id="8" name="">
            <a:extLst xmlns:a="http://schemas.openxmlformats.org/drawingml/2006/main">
              <a:ext uri="{FF2B5EF4-FFF2-40B4-BE49-F238E27FC236}">
                <a16:creationId xmlns:a16="http://schemas.microsoft.com/office/drawing/2014/main" id="{17DF4227-ACB3-4DF3-96B0-9B560F460CE1}"/>
              </a:ext>
            </a:extLst>
          </p:cNvPr>
          <p:cNvSpPr>
            <a:spLocks xmlns:a="http://schemas.openxmlformats.org/drawingml/2006/main" noGrp="1"/>
          </p:cNvSpPr>
          <p:nvPr/>
        </p:nvSpPr>
        <p:spPr>
          <a:xfrm xmlns:a="http://schemas.openxmlformats.org/drawingml/2006/main">
            <a:off x="6410325" y="4371975"/>
            <a:ext cx="457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a:solidFill>
                  <a:srgbClr val="252638"/>
                </a:solidFill>
                <a:latin typeface="DM Sans"/>
                <a:ea typeface="DM Sans"/>
                <a:cs typeface="DM Sans"/>
              </a:defRPr>
            </a:pPr>
            <a:r>
              <a:rPr sz="2175">
                <a:solidFill>
                  <a:srgbClr val="252638"/>
                </a:solidFill>
                <a:latin typeface="DM Sans"/>
                <a:ea typeface="DM Sans"/>
                <a:cs typeface="DM Sans"/>
              </a:rPr>
              <a:t>Studio, once</a:t>
            </a:r>
          </a:p>
        </p:txBody>
      </p:sp>
      <p:sp>
        <p:nvSpPr>
          <p:cNvPr id="9" name="">
            <a:extLst xmlns:a="http://schemas.openxmlformats.org/drawingml/2006/main">
              <a:ext uri="{FF2B5EF4-FFF2-40B4-BE49-F238E27FC236}">
                <a16:creationId xmlns:a16="http://schemas.microsoft.com/office/drawing/2014/main" id="{878FA969-EF1C-49DF-A542-C8E04277AA67}"/>
              </a:ext>
            </a:extLst>
          </p:cNvPr>
          <p:cNvSpPr>
            <a:spLocks xmlns:a="http://schemas.openxmlformats.org/drawingml/2006/main" noGrp="1"/>
          </p:cNvSpPr>
          <p:nvPr/>
        </p:nvSpPr>
        <p:spPr>
          <a:xfrm xmlns:a="http://schemas.openxmlformats.org/drawingml/2006/main">
            <a:off x="695325" y="5114925"/>
            <a:ext cx="1061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a:solidFill>
                  <a:srgbClr val="696978"/>
                </a:solidFill>
                <a:latin typeface="DM Sans"/>
                <a:ea typeface="DM Sans"/>
                <a:cs typeface="DM Sans"/>
              </a:defRPr>
            </a:pPr>
            <a:r>
              <a:rPr sz="1800">
                <a:solidFill>
                  <a:srgbClr val="696978"/>
                </a:solidFill>
                <a:latin typeface="DM Sans"/>
                <a:ea typeface="DM Sans"/>
                <a:cs typeface="DM Sans"/>
              </a:rPr>
              <a:t>History, reminders, and backups stay free.</a:t>
            </a:r>
          </a:p>
        </p:txBody>
      </p:sp>
      <p:sp>
        <p:nvSpPr>
          <p:cNvPr id="10" name="">
            <a:extLst xmlns:a="http://schemas.openxmlformats.org/drawingml/2006/main">
              <a:ext uri="{FF2B5EF4-FFF2-40B4-BE49-F238E27FC236}">
                <a16:creationId xmlns:a16="http://schemas.microsoft.com/office/drawing/2014/main" id="{000F3A4D-F280-4D58-B8B6-6939D8EE6AE2}"/>
              </a:ext>
            </a:extLst>
          </p:cNvPr>
          <p:cNvSpPr>
            <a:spLocks xmlns:a="http://schemas.openxmlformats.org/drawingml/2006/main" noGrp="1"/>
          </p:cNvSpPr>
          <p:nvPr/>
        </p:nvSpPr>
        <p:spPr>
          <a:xfrm xmlns:a="http://schemas.openxmlformats.org/drawingml/2006/main">
            <a:off x="695325" y="5686425"/>
            <a:ext cx="10610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a:solidFill>
                  <a:srgbClr val="696978"/>
                </a:solidFill>
                <a:latin typeface="DM Sans"/>
                <a:ea typeface="DM Sans"/>
                <a:cs typeface="DM Sans"/>
              </a:defRPr>
            </a:pPr>
            <a:r>
              <a:rPr sz="1500">
                <a:solidFill>
                  <a:srgbClr val="696978"/>
                </a:solidFill>
                <a:latin typeface="DM Sans"/>
                <a:ea typeface="DM Sans"/>
                <a:cs typeface="DM Sans"/>
              </a:rPr>
              <a:t>1,000 purchases = $19,990 gross sales, before fees and costs.</a:t>
            </a:r>
          </a:p>
          <a:p xmlns:a="http://schemas.openxmlformats.org/drawingml/2006/main">
            <a:pPr>
              <a:defRPr sz="1500">
                <a:solidFill>
                  <a:srgbClr val="696978"/>
                </a:solidFill>
                <a:latin typeface="DM Sans"/>
                <a:ea typeface="DM Sans"/>
                <a:cs typeface="DM Sans"/>
              </a:defRPr>
            </a:pPr>
            <a:r>
              <a:rPr sz="1500">
                <a:solidFill>
                  <a:srgbClr val="696978"/>
                </a:solidFill>
                <a:latin typeface="DM Sans"/>
                <a:ea typeface="DM Sans"/>
                <a:cs typeface="DM Sans"/>
              </a:rPr>
              <a:t>Illustration only. Local storage avoids per-session AI costs.</a:t>
            </a:r>
          </a:p>
        </p:txBody>
      </p:sp>
    </p:spTree>
    <p:extLst>
      <p:ext uri="{BB962C8B-B14F-4D97-AF65-F5344CB8AC3E}">
        <p14:creationId xmlns:p14="http://schemas.microsoft.com/office/powerpoint/2010/main" val="1321975807"/>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D5FD75-5E7D-4202-8CB3-9F67C78AE492}"/>
              </a:ext>
            </a:extLst>
          </p:cNvPr>
          <p:cNvSpPr>
            <a:spLocks xmlns:a="http://schemas.openxmlformats.org/drawingml/2006/main" noGrp="1"/>
          </p:cNvSpPr>
          <p:nvPr/>
        </p:nvSpPr>
        <p:spPr>
          <a:xfrm xmlns:a="http://schemas.openxmlformats.org/drawingml/2006/main">
            <a:off x="628650" y="3524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5753A3"/>
                </a:solidFill>
                <a:latin typeface="DM Sans"/>
                <a:ea typeface="DM Sans"/>
                <a:cs typeface="DM Sans"/>
              </a:defRPr>
            </a:pPr>
            <a:r>
              <a:rPr sz="1275" b="1">
                <a:solidFill>
                  <a:srgbClr val="5753A3"/>
                </a:solidFill>
                <a:latin typeface="DM Sans"/>
                <a:ea typeface="DM Sans"/>
                <a:cs typeface="DM Sans"/>
              </a:rPr>
              <a:t>UNPAUSE</a:t>
            </a:r>
          </a:p>
        </p:txBody>
      </p:sp>
      <p:sp>
        <p:nvSpPr>
          <p:cNvPr id="2" name="">
            <a:extLst xmlns:a="http://schemas.openxmlformats.org/drawingml/2006/main">
              <a:ext uri="{FF2B5EF4-FFF2-40B4-BE49-F238E27FC236}">
                <a16:creationId xmlns:a16="http://schemas.microsoft.com/office/drawing/2014/main" id="{9D4B0D8F-DB14-4FA4-8DCE-FEF1756ABD18}"/>
              </a:ext>
            </a:extLst>
          </p:cNvPr>
          <p:cNvSpPr>
            <a:spLocks xmlns:a="http://schemas.openxmlformats.org/drawingml/2006/main" noGrp="1"/>
          </p:cNvSpPr>
          <p:nvPr/>
        </p:nvSpPr>
        <p:spPr>
          <a:xfrm xmlns:a="http://schemas.openxmlformats.org/drawingml/2006/main">
            <a:off x="11049000" y="62674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a:solidFill>
                  <a:srgbClr val="696978"/>
                </a:solidFill>
                <a:latin typeface="DM Sans"/>
                <a:ea typeface="DM Sans"/>
                <a:cs typeface="DM Sans"/>
              </a:defRPr>
            </a:pPr>
            <a:r>
              <a:rPr sz="1125">
                <a:solidFill>
                  <a:srgbClr val="696978"/>
                </a:solidFill>
                <a:latin typeface="DM Sans"/>
                <a:ea typeface="DM Sans"/>
                <a:cs typeface="DM Sans"/>
              </a:rPr>
              <a:t>07</a:t>
            </a:r>
          </a:p>
        </p:txBody>
      </p:sp>
      <p:sp>
        <p:nvSpPr>
          <p:cNvPr id="3" name="">
            <a:extLst xmlns:a="http://schemas.openxmlformats.org/drawingml/2006/main">
              <a:ext uri="{FF2B5EF4-FFF2-40B4-BE49-F238E27FC236}">
                <a16:creationId xmlns:a16="http://schemas.microsoft.com/office/drawing/2014/main" id="{36910EC1-83CF-4D0D-BDEB-2D9B144A36FC}"/>
              </a:ext>
            </a:extLst>
          </p:cNvPr>
          <p:cNvSpPr>
            <a:spLocks xmlns:a="http://schemas.openxmlformats.org/drawingml/2006/main" noGrp="1"/>
          </p:cNvSpPr>
          <p:nvPr/>
        </p:nvSpPr>
        <p:spPr>
          <a:xfrm xmlns:a="http://schemas.openxmlformats.org/drawingml/2006/main">
            <a:off x="628650" y="9810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a:solidFill>
                  <a:srgbClr val="252638"/>
                </a:solidFill>
                <a:latin typeface="Georgia"/>
                <a:ea typeface="Georgia"/>
                <a:cs typeface="Georgia"/>
              </a:defRPr>
            </a:pPr>
            <a:r>
              <a:rPr sz="4050">
                <a:solidFill>
                  <a:srgbClr val="252638"/>
                </a:solidFill>
                <a:latin typeface="Georgia"/>
                <a:ea typeface="Georgia"/>
                <a:cs typeface="Georgia"/>
              </a:rPr>
              <a:t>Built for a real release</a:t>
            </a:r>
          </a:p>
        </p:txBody>
      </p:sp>
      <p:sp>
        <p:nvSpPr>
          <p:cNvPr id="4" name="">
            <a:extLst xmlns:a="http://schemas.openxmlformats.org/drawingml/2006/main">
              <a:ext uri="{FF2B5EF4-FFF2-40B4-BE49-F238E27FC236}">
                <a16:creationId xmlns:a16="http://schemas.microsoft.com/office/drawing/2014/main" id="{F9E05BF1-D838-4C9F-8710-62F43DD1FF2E}"/>
              </a:ext>
            </a:extLst>
          </p:cNvPr>
          <p:cNvSpPr>
            <a:spLocks xmlns:a="http://schemas.openxmlformats.org/drawingml/2006/main" noGrp="1"/>
          </p:cNvSpPr>
          <p:nvPr/>
        </p:nvSpPr>
        <p:spPr>
          <a:xfrm xmlns:a="http://schemas.openxmlformats.org/drawingml/2006/main">
            <a:off x="676275" y="23336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753A3"/>
                </a:solidFill>
                <a:latin typeface="DM Sans"/>
                <a:ea typeface="DM Sans"/>
                <a:cs typeface="DM Sans"/>
              </a:defRPr>
            </a:pPr>
            <a:r>
              <a:rPr sz="1350" b="1">
                <a:solidFill>
                  <a:srgbClr val="5753A3"/>
                </a:solidFill>
                <a:latin typeface="DM Sans"/>
                <a:ea typeface="DM Sans"/>
                <a:cs typeface="DM Sans"/>
              </a:rPr>
              <a:t>IMPLEMENTATION</a:t>
            </a:r>
          </a:p>
        </p:txBody>
      </p:sp>
      <p:sp>
        <p:nvSpPr>
          <p:cNvPr id="5" name="">
            <a:extLst xmlns:a="http://schemas.openxmlformats.org/drawingml/2006/main">
              <a:ext uri="{FF2B5EF4-FFF2-40B4-BE49-F238E27FC236}">
                <a16:creationId xmlns:a16="http://schemas.microsoft.com/office/drawing/2014/main" id="{90F45528-FCEC-4B25-A87E-C64BE1F9842D}"/>
              </a:ext>
            </a:extLst>
          </p:cNvPr>
          <p:cNvSpPr>
            <a:spLocks xmlns:a="http://schemas.openxmlformats.org/drawingml/2006/main" noGrp="1"/>
          </p:cNvSpPr>
          <p:nvPr/>
        </p:nvSpPr>
        <p:spPr>
          <a:xfrm xmlns:a="http://schemas.openxmlformats.org/drawingml/2006/main">
            <a:off x="676275" y="2847975"/>
            <a:ext cx="509587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25000"/>
              </a:lnSpc>
              <a:buNone/>
              <a:defRPr sz="2100">
                <a:solidFill>
                  <a:srgbClr val="252638"/>
                </a:solidFill>
                <a:latin typeface="DM Sans"/>
                <a:ea typeface="DM Sans"/>
                <a:cs typeface="DM Sans"/>
              </a:defRPr>
            </a:pPr>
            <a:r>
              <a:rPr sz="2100">
                <a:solidFill>
                  <a:srgbClr val="252638"/>
                </a:solidFill>
                <a:latin typeface="DM Sans"/>
                <a:ea typeface="DM Sans"/>
                <a:cs typeface="DM Sans"/>
              </a:rPr>
              <a:t>React Native + Expo</a:t>
            </a:r>
          </a:p>
          <a:p xmlns:a="http://schemas.openxmlformats.org/drawingml/2006/main">
            <a:pPr>
              <a:lnSpc>
                <a:spcPct val="125000"/>
              </a:lnSpc>
              <a:buNone/>
              <a:defRPr sz="2100">
                <a:solidFill>
                  <a:srgbClr val="252638"/>
                </a:solidFill>
                <a:latin typeface="DM Sans"/>
                <a:ea typeface="DM Sans"/>
                <a:cs typeface="DM Sans"/>
              </a:defRPr>
            </a:pPr>
            <a:r>
              <a:rPr sz="2100">
                <a:solidFill>
                  <a:srgbClr val="252638"/>
                </a:solidFill>
                <a:latin typeface="DM Sans"/>
                <a:ea typeface="DM Sans"/>
                <a:cs typeface="DM Sans"/>
              </a:rPr>
              <a:t>Local handoffs and history</a:t>
            </a:r>
          </a:p>
          <a:p xmlns:a="http://schemas.openxmlformats.org/drawingml/2006/main">
            <a:pPr>
              <a:lnSpc>
                <a:spcPct val="125000"/>
              </a:lnSpc>
              <a:buNone/>
              <a:defRPr sz="2100">
                <a:solidFill>
                  <a:srgbClr val="252638"/>
                </a:solidFill>
                <a:latin typeface="DM Sans"/>
                <a:ea typeface="DM Sans"/>
                <a:cs typeface="DM Sans"/>
              </a:defRPr>
            </a:pPr>
            <a:r>
              <a:rPr sz="2100">
                <a:solidFill>
                  <a:srgbClr val="252638"/>
                </a:solidFill>
                <a:latin typeface="DM Sans"/>
                <a:ea typeface="DM Sans"/>
                <a:cs typeface="DM Sans"/>
              </a:rPr>
              <a:t>Validated backup import</a:t>
            </a:r>
          </a:p>
          <a:p xmlns:a="http://schemas.openxmlformats.org/drawingml/2006/main">
            <a:pPr>
              <a:lnSpc>
                <a:spcPct val="125000"/>
              </a:lnSpc>
              <a:buNone/>
              <a:defRPr sz="2100">
                <a:solidFill>
                  <a:srgbClr val="252638"/>
                </a:solidFill>
                <a:latin typeface="DM Sans"/>
                <a:ea typeface="DM Sans"/>
                <a:cs typeface="DM Sans"/>
              </a:defRPr>
            </a:pPr>
            <a:r>
              <a:rPr sz="2100">
                <a:solidFill>
                  <a:srgbClr val="252638"/>
                </a:solidFill>
                <a:latin typeface="DM Sans"/>
                <a:ea typeface="DM Sans"/>
                <a:cs typeface="DM Sans"/>
              </a:rPr>
              <a:t>RevenueCat lifetime integration</a:t>
            </a:r>
          </a:p>
        </p:txBody>
      </p:sp>
      <p:sp>
        <p:nvSpPr>
          <p:cNvPr id="6" name="">
            <a:extLst xmlns:a="http://schemas.openxmlformats.org/drawingml/2006/main">
              <a:ext uri="{FF2B5EF4-FFF2-40B4-BE49-F238E27FC236}">
                <a16:creationId xmlns:a16="http://schemas.microsoft.com/office/drawing/2014/main" id="{2889DFCE-98A1-4953-8493-918496CE90FC}"/>
              </a:ext>
            </a:extLst>
          </p:cNvPr>
          <p:cNvSpPr>
            <a:spLocks xmlns:a="http://schemas.openxmlformats.org/drawingml/2006/main" noGrp="1"/>
          </p:cNvSpPr>
          <p:nvPr/>
        </p:nvSpPr>
        <p:spPr>
          <a:xfrm xmlns:a="http://schemas.openxmlformats.org/drawingml/2006/main">
            <a:off x="6477000" y="23336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753A3"/>
                </a:solidFill>
                <a:latin typeface="DM Sans"/>
                <a:ea typeface="DM Sans"/>
                <a:cs typeface="DM Sans"/>
              </a:defRPr>
            </a:pPr>
            <a:r>
              <a:rPr sz="1350" b="1">
                <a:solidFill>
                  <a:srgbClr val="5753A3"/>
                </a:solidFill>
                <a:latin typeface="DM Sans"/>
                <a:ea typeface="DM Sans"/>
                <a:cs typeface="DM Sans"/>
              </a:rPr>
              <a:t>RELEASE GATES</a:t>
            </a:r>
          </a:p>
        </p:txBody>
      </p:sp>
      <p:sp>
        <p:nvSpPr>
          <p:cNvPr id="7" name="">
            <a:extLst xmlns:a="http://schemas.openxmlformats.org/drawingml/2006/main">
              <a:ext uri="{FF2B5EF4-FFF2-40B4-BE49-F238E27FC236}">
                <a16:creationId xmlns:a16="http://schemas.microsoft.com/office/drawing/2014/main" id="{56205424-1844-455E-B484-D9B147E74F84}"/>
              </a:ext>
            </a:extLst>
          </p:cNvPr>
          <p:cNvSpPr>
            <a:spLocks xmlns:a="http://schemas.openxmlformats.org/drawingml/2006/main" noGrp="1"/>
          </p:cNvSpPr>
          <p:nvPr/>
        </p:nvSpPr>
        <p:spPr>
          <a:xfrm xmlns:a="http://schemas.openxmlformats.org/drawingml/2006/main">
            <a:off x="6477000" y="2847975"/>
            <a:ext cx="509587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25000"/>
              </a:lnSpc>
              <a:buNone/>
              <a:defRPr sz="2100">
                <a:solidFill>
                  <a:srgbClr val="252638"/>
                </a:solidFill>
                <a:latin typeface="DM Sans"/>
                <a:ea typeface="DM Sans"/>
                <a:cs typeface="DM Sans"/>
              </a:defRPr>
            </a:pPr>
            <a:r>
              <a:rPr sz="2100">
                <a:solidFill>
                  <a:srgbClr val="252638"/>
                </a:solidFill>
                <a:latin typeface="DM Sans"/>
                <a:ea typeface="DM Sans"/>
                <a:cs typeface="DM Sans"/>
              </a:rPr>
              <a:t>Seller and product configuration</a:t>
            </a:r>
          </a:p>
          <a:p xmlns:a="http://schemas.openxmlformats.org/drawingml/2006/main">
            <a:pPr>
              <a:lnSpc>
                <a:spcPct val="125000"/>
              </a:lnSpc>
              <a:buNone/>
              <a:defRPr sz="2100">
                <a:solidFill>
                  <a:srgbClr val="252638"/>
                </a:solidFill>
                <a:latin typeface="DM Sans"/>
                <a:ea typeface="DM Sans"/>
                <a:cs typeface="DM Sans"/>
              </a:defRPr>
            </a:pPr>
            <a:r>
              <a:rPr sz="2100">
                <a:solidFill>
                  <a:srgbClr val="252638"/>
                </a:solidFill>
                <a:latin typeface="DM Sans"/>
                <a:ea typeface="DM Sans"/>
                <a:cs typeface="DM Sans"/>
              </a:rPr>
              <a:t>Real Galaxy purchase testing</a:t>
            </a:r>
          </a:p>
          <a:p xmlns:a="http://schemas.openxmlformats.org/drawingml/2006/main">
            <a:pPr>
              <a:lnSpc>
                <a:spcPct val="125000"/>
              </a:lnSpc>
              <a:buNone/>
              <a:defRPr sz="2100">
                <a:solidFill>
                  <a:srgbClr val="252638"/>
                </a:solidFill>
                <a:latin typeface="DM Sans"/>
                <a:ea typeface="DM Sans"/>
                <a:cs typeface="DM Sans"/>
              </a:defRPr>
            </a:pPr>
            <a:r>
              <a:rPr sz="2100">
                <a:solidFill>
                  <a:srgbClr val="252638"/>
                </a:solidFill>
                <a:latin typeface="DM Sans"/>
                <a:ea typeface="DM Sans"/>
                <a:cs typeface="DM Sans"/>
              </a:rPr>
              <a:t>Signing and store approval</a:t>
            </a:r>
          </a:p>
          <a:p xmlns:a="http://schemas.openxmlformats.org/drawingml/2006/main">
            <a:pPr>
              <a:lnSpc>
                <a:spcPct val="125000"/>
              </a:lnSpc>
              <a:buNone/>
              <a:defRPr sz="2100">
                <a:solidFill>
                  <a:srgbClr val="252638"/>
                </a:solidFill>
                <a:latin typeface="DM Sans"/>
                <a:ea typeface="DM Sans"/>
                <a:cs typeface="DM Sans"/>
              </a:defRPr>
            </a:pPr>
            <a:r>
              <a:rPr sz="2100">
                <a:solidFill>
                  <a:srgbClr val="252638"/>
                </a:solidFill>
                <a:latin typeface="DM Sans"/>
                <a:ea typeface="DM Sans"/>
                <a:cs typeface="DM Sans"/>
              </a:rPr>
              <a:t>Device recording and submission</a:t>
            </a:r>
          </a:p>
        </p:txBody>
      </p:sp>
      <p:sp>
        <p:nvSpPr>
          <p:cNvPr id="8" name="">
            <a:extLst xmlns:a="http://schemas.openxmlformats.org/drawingml/2006/main">
              <a:ext uri="{FF2B5EF4-FFF2-40B4-BE49-F238E27FC236}">
                <a16:creationId xmlns:a16="http://schemas.microsoft.com/office/drawing/2014/main" id="{05F98C61-9F52-440D-8DD1-4E75BA7D2C4E}"/>
              </a:ext>
            </a:extLst>
          </p:cNvPr>
          <p:cNvSpPr>
            <a:spLocks xmlns:a="http://schemas.openxmlformats.org/drawingml/2006/main" noGrp="1"/>
          </p:cNvSpPr>
          <p:nvPr/>
        </p:nvSpPr>
        <p:spPr>
          <a:xfrm xmlns:a="http://schemas.openxmlformats.org/drawingml/2006/main">
            <a:off x="685800" y="550545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a:solidFill>
                  <a:srgbClr val="252638"/>
                </a:solidFill>
                <a:latin typeface="Georgia"/>
                <a:ea typeface="Georgia"/>
                <a:cs typeface="Georgia"/>
              </a:defRPr>
            </a:pPr>
            <a:r>
              <a:rPr sz="2250">
                <a:solidFill>
                  <a:srgbClr val="252638"/>
                </a:solidFill>
                <a:latin typeface="Georgia"/>
                <a:ea typeface="Georgia"/>
                <a:cs typeface="Georgia"/>
              </a:rPr>
              <a:t>Next proof: a maker returns to their own project because the handoff helped.</a:t>
            </a:r>
          </a:p>
        </p:txBody>
      </p:sp>
    </p:spTree>
    <p:extLst>
      <p:ext uri="{BB962C8B-B14F-4D97-AF65-F5344CB8AC3E}">
        <p14:creationId xmlns:p14="http://schemas.microsoft.com/office/powerpoint/2010/main" val="16041302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2026-09-16T12:22:30.3840000Z</dcterms:created>
  <dcterms:modified xsi:type="dcterms:W3CDTF">2026-09-16T12:22:30.3840000Z</dcterms:modified>
</coreProperties>
</file>